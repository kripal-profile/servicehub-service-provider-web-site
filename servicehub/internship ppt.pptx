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9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22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62035"/>
          </a:solidFill>
          <a:ln w="12700">
            <a:solidFill>
              <a:srgbClr val="162035"/>
            </a:solidFill>
            <a:prstDash val="solid"/>
          </a:ln>
        </p:spPr>
      </p:sp>
      <p:sp>
        <p:nvSpPr>
          <p:cNvPr id="3" name="Shape 1"/>
          <p:cNvSpPr/>
          <p:nvPr/>
        </p:nvSpPr>
        <p:spPr>
          <a:xfrm>
            <a:off x="6583680" y="274320"/>
            <a:ext cx="2194560" cy="2194560"/>
          </a:xfrm>
          <a:prstGeom prst="ellipse">
            <a:avLst/>
          </a:prstGeom>
          <a:solidFill>
            <a:srgbClr val="E05C41">
              <a:alpha val="30000"/>
            </a:srgbClr>
          </a:solidFill>
          <a:ln w="12700">
            <a:solidFill>
              <a:srgbClr val="E05C41">
                <a:alpha val="30000"/>
              </a:srgbClr>
            </a:solidFill>
            <a:prstDash val="solid"/>
          </a:ln>
        </p:spPr>
      </p:sp>
      <p:sp>
        <p:nvSpPr>
          <p:cNvPr id="4" name="Shape 2"/>
          <p:cNvSpPr/>
          <p:nvPr/>
        </p:nvSpPr>
        <p:spPr>
          <a:xfrm>
            <a:off x="7132320" y="2926080"/>
            <a:ext cx="1463040" cy="1463040"/>
          </a:xfrm>
          <a:prstGeom prst="ellipse">
            <a:avLst/>
          </a:prstGeom>
          <a:solidFill>
            <a:srgbClr val="F4A261">
              <a:alpha val="35000"/>
            </a:srgbClr>
          </a:solidFill>
          <a:ln w="12700">
            <a:solidFill>
              <a:srgbClr val="F4A261">
                <a:alpha val="35000"/>
              </a:srgbClr>
            </a:solidFill>
            <a:prstDash val="solid"/>
          </a:ln>
        </p:spPr>
      </p:sp>
      <p:sp>
        <p:nvSpPr>
          <p:cNvPr id="5" name="Shape 3"/>
          <p:cNvSpPr/>
          <p:nvPr/>
        </p:nvSpPr>
        <p:spPr>
          <a:xfrm>
            <a:off x="457200" y="1005840"/>
            <a:ext cx="73152" cy="3017520"/>
          </a:xfrm>
          <a:prstGeom prst="rect">
            <a:avLst/>
          </a:prstGeom>
          <a:solidFill>
            <a:srgbClr val="E05C41"/>
          </a:solidFill>
          <a:ln w="12700">
            <a:solidFill>
              <a:srgbClr val="E05C41"/>
            </a:solidFill>
            <a:prstDash val="solid"/>
          </a:ln>
        </p:spPr>
      </p:sp>
      <p:sp>
        <p:nvSpPr>
          <p:cNvPr id="6" name="Shape 4"/>
          <p:cNvSpPr/>
          <p:nvPr/>
        </p:nvSpPr>
        <p:spPr>
          <a:xfrm>
            <a:off x="640080" y="320040"/>
            <a:ext cx="1737360" cy="384048"/>
          </a:xfrm>
          <a:prstGeom prst="rect">
            <a:avLst/>
          </a:prstGeom>
          <a:solidFill>
            <a:srgbClr val="E05C41"/>
          </a:solidFill>
          <a:ln w="12700">
            <a:solidFill>
              <a:srgbClr val="E05C41"/>
            </a:solidFill>
            <a:prstDash val="solid"/>
          </a:ln>
        </p:spPr>
      </p:sp>
      <p:sp>
        <p:nvSpPr>
          <p:cNvPr id="7" name="Text 5"/>
          <p:cNvSpPr/>
          <p:nvPr/>
        </p:nvSpPr>
        <p:spPr>
          <a:xfrm>
            <a:off x="640080" y="320040"/>
            <a:ext cx="1737360" cy="384048"/>
          </a:xfrm>
          <a:prstGeom prst="rect">
            <a:avLst/>
          </a:prstGeom>
          <a:noFill/>
          <a:ln/>
        </p:spPr>
        <p:txBody>
          <a:bodyPr wrap="square" rtlCol="0" anchor="ctr"/>
          <a:lstStyle/>
          <a:p>
            <a:pPr marL="0" indent="0" algn="ctr">
              <a:buNone/>
            </a:pPr>
            <a:r>
              <a:rPr lang="en-US" sz="1100" b="1" dirty="0">
                <a:solidFill>
                  <a:srgbClr val="FFFFFF"/>
                </a:solidFill>
              </a:rPr>
              <a:t>ServiceHub</a:t>
            </a:r>
            <a:endParaRPr lang="en-US" sz="1100" dirty="0"/>
          </a:p>
        </p:txBody>
      </p:sp>
      <p:sp>
        <p:nvSpPr>
          <p:cNvPr id="8" name="Text 6"/>
          <p:cNvSpPr/>
          <p:nvPr/>
        </p:nvSpPr>
        <p:spPr>
          <a:xfrm>
            <a:off x="640080" y="914400"/>
            <a:ext cx="5303520" cy="1828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Connecting Clients</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with Local Services</a:t>
            </a:r>
            <a:endParaRPr lang="en-US" sz="3600" dirty="0"/>
          </a:p>
        </p:txBody>
      </p:sp>
      <p:sp>
        <p:nvSpPr>
          <p:cNvPr id="9" name="Text 7"/>
          <p:cNvSpPr/>
          <p:nvPr/>
        </p:nvSpPr>
        <p:spPr>
          <a:xfrm>
            <a:off x="640080" y="2834640"/>
            <a:ext cx="5303520" cy="502920"/>
          </a:xfrm>
          <a:prstGeom prst="rect">
            <a:avLst/>
          </a:prstGeom>
          <a:noFill/>
          <a:ln/>
        </p:spPr>
        <p:txBody>
          <a:bodyPr wrap="square" rtlCol="0" anchor="ctr"/>
          <a:lstStyle/>
          <a:p>
            <a:pPr marL="0" indent="0">
              <a:buNone/>
            </a:pPr>
            <a:r>
              <a:rPr lang="en-US" sz="1300" i="1" dirty="0">
                <a:solidFill>
                  <a:srgbClr val="B0C4D8"/>
                </a:solidFill>
              </a:rPr>
              <a:t>A Full-Stack Web Application for Service Discovery &amp; Booking</a:t>
            </a:r>
            <a:endParaRPr lang="en-US" sz="1300" dirty="0"/>
          </a:p>
        </p:txBody>
      </p:sp>
      <p:sp>
        <p:nvSpPr>
          <p:cNvPr id="10" name="Shape 8"/>
          <p:cNvSpPr/>
          <p:nvPr/>
        </p:nvSpPr>
        <p:spPr>
          <a:xfrm>
            <a:off x="457200" y="3456432"/>
            <a:ext cx="1965960" cy="731520"/>
          </a:xfrm>
          <a:prstGeom prst="rect">
            <a:avLst/>
          </a:prstGeom>
          <a:solidFill>
            <a:srgbClr val="0D1E36"/>
          </a:solidFill>
          <a:ln w="12700">
            <a:solidFill>
              <a:srgbClr val="E05C41"/>
            </a:solidFill>
            <a:prstDash val="solid"/>
          </a:ln>
        </p:spPr>
      </p:sp>
      <p:sp>
        <p:nvSpPr>
          <p:cNvPr id="11" name="Text 9"/>
          <p:cNvSpPr/>
          <p:nvPr/>
        </p:nvSpPr>
        <p:spPr>
          <a:xfrm>
            <a:off x="457200" y="3483864"/>
            <a:ext cx="1965960" cy="237744"/>
          </a:xfrm>
          <a:prstGeom prst="rect">
            <a:avLst/>
          </a:prstGeom>
          <a:noFill/>
          <a:ln/>
        </p:spPr>
        <p:txBody>
          <a:bodyPr wrap="square" rtlCol="0" anchor="ctr"/>
          <a:lstStyle/>
          <a:p>
            <a:pPr marL="0" indent="0" algn="ctr">
              <a:buNone/>
            </a:pPr>
            <a:r>
              <a:rPr lang="en-US" sz="750" b="1" dirty="0">
                <a:solidFill>
                  <a:srgbClr val="F4A261"/>
                </a:solidFill>
              </a:rPr>
              <a:t>Student Name</a:t>
            </a:r>
            <a:endParaRPr lang="en-US" sz="750" dirty="0"/>
          </a:p>
        </p:txBody>
      </p:sp>
      <p:sp>
        <p:nvSpPr>
          <p:cNvPr id="12" name="Text 10"/>
          <p:cNvSpPr/>
          <p:nvPr/>
        </p:nvSpPr>
        <p:spPr>
          <a:xfrm>
            <a:off x="457200" y="3739896"/>
            <a:ext cx="1965960" cy="237744"/>
          </a:xfrm>
          <a:prstGeom prst="rect">
            <a:avLst/>
          </a:prstGeom>
          <a:noFill/>
          <a:ln/>
        </p:spPr>
        <p:txBody>
          <a:bodyPr wrap="square" rtlCol="0" anchor="ctr"/>
          <a:lstStyle/>
          <a:p>
            <a:pPr marL="0" indent="0" algn="ctr">
              <a:buNone/>
            </a:pPr>
            <a:r>
              <a:rPr lang="en-US" sz="900" dirty="0">
                <a:solidFill>
                  <a:srgbClr val="FFFFFF"/>
                </a:solidFill>
              </a:rPr>
              <a:t>PRAJAPATI KRIPAL</a:t>
            </a:r>
            <a:endParaRPr lang="en-US" sz="900" dirty="0"/>
          </a:p>
        </p:txBody>
      </p:sp>
      <p:sp>
        <p:nvSpPr>
          <p:cNvPr id="13" name="Shape 11"/>
          <p:cNvSpPr/>
          <p:nvPr/>
        </p:nvSpPr>
        <p:spPr>
          <a:xfrm>
            <a:off x="2606040" y="3456432"/>
            <a:ext cx="1965960" cy="731520"/>
          </a:xfrm>
          <a:prstGeom prst="rect">
            <a:avLst/>
          </a:prstGeom>
          <a:solidFill>
            <a:srgbClr val="0D1E36"/>
          </a:solidFill>
          <a:ln w="12700">
            <a:solidFill>
              <a:srgbClr val="E05C41"/>
            </a:solidFill>
            <a:prstDash val="solid"/>
          </a:ln>
        </p:spPr>
      </p:sp>
      <p:sp>
        <p:nvSpPr>
          <p:cNvPr id="14" name="Text 12"/>
          <p:cNvSpPr/>
          <p:nvPr/>
        </p:nvSpPr>
        <p:spPr>
          <a:xfrm>
            <a:off x="2606040" y="3483864"/>
            <a:ext cx="1965960" cy="237744"/>
          </a:xfrm>
          <a:prstGeom prst="rect">
            <a:avLst/>
          </a:prstGeom>
          <a:noFill/>
          <a:ln/>
        </p:spPr>
        <p:txBody>
          <a:bodyPr wrap="square" rtlCol="0" anchor="ctr"/>
          <a:lstStyle/>
          <a:p>
            <a:pPr marL="0" indent="0" algn="ctr">
              <a:buNone/>
            </a:pPr>
            <a:r>
              <a:rPr lang="en-US" sz="750" b="1" dirty="0">
                <a:solidFill>
                  <a:srgbClr val="F4A261"/>
                </a:solidFill>
              </a:rPr>
              <a:t>Roll No.</a:t>
            </a:r>
            <a:endParaRPr lang="en-US" sz="750" dirty="0"/>
          </a:p>
        </p:txBody>
      </p:sp>
      <p:sp>
        <p:nvSpPr>
          <p:cNvPr id="15" name="Text 13"/>
          <p:cNvSpPr/>
          <p:nvPr/>
        </p:nvSpPr>
        <p:spPr>
          <a:xfrm>
            <a:off x="2606040" y="3739896"/>
            <a:ext cx="1965960" cy="237744"/>
          </a:xfrm>
          <a:prstGeom prst="rect">
            <a:avLst/>
          </a:prstGeom>
          <a:noFill/>
          <a:ln/>
        </p:spPr>
        <p:txBody>
          <a:bodyPr wrap="square" rtlCol="0" anchor="ctr"/>
          <a:lstStyle/>
          <a:p>
            <a:pPr marL="0" indent="0" algn="ctr">
              <a:buNone/>
            </a:pPr>
            <a:r>
              <a:rPr lang="en-US" sz="900" dirty="0">
                <a:solidFill>
                  <a:srgbClr val="FFFFFF"/>
                </a:solidFill>
              </a:rPr>
              <a:t>3334</a:t>
            </a:r>
            <a:endParaRPr lang="en-US" sz="900" dirty="0"/>
          </a:p>
        </p:txBody>
      </p:sp>
      <p:sp>
        <p:nvSpPr>
          <p:cNvPr id="16" name="Shape 14"/>
          <p:cNvSpPr/>
          <p:nvPr/>
        </p:nvSpPr>
        <p:spPr>
          <a:xfrm>
            <a:off x="4754880" y="3456432"/>
            <a:ext cx="1965960" cy="731520"/>
          </a:xfrm>
          <a:prstGeom prst="rect">
            <a:avLst/>
          </a:prstGeom>
          <a:solidFill>
            <a:srgbClr val="0D1E36"/>
          </a:solidFill>
          <a:ln w="12700">
            <a:solidFill>
              <a:srgbClr val="E05C41"/>
            </a:solidFill>
            <a:prstDash val="solid"/>
          </a:ln>
        </p:spPr>
      </p:sp>
      <p:sp>
        <p:nvSpPr>
          <p:cNvPr id="17" name="Text 15"/>
          <p:cNvSpPr/>
          <p:nvPr/>
        </p:nvSpPr>
        <p:spPr>
          <a:xfrm>
            <a:off x="4754880" y="3483864"/>
            <a:ext cx="1965960" cy="237744"/>
          </a:xfrm>
          <a:prstGeom prst="rect">
            <a:avLst/>
          </a:prstGeom>
          <a:noFill/>
          <a:ln/>
        </p:spPr>
        <p:txBody>
          <a:bodyPr wrap="square" rtlCol="0" anchor="ctr"/>
          <a:lstStyle/>
          <a:p>
            <a:pPr marL="0" indent="0" algn="ctr">
              <a:buNone/>
            </a:pPr>
            <a:r>
              <a:rPr lang="en-US" sz="750" b="1" dirty="0">
                <a:solidFill>
                  <a:srgbClr val="F4A261"/>
                </a:solidFill>
              </a:rPr>
              <a:t>Program &amp; Sem</a:t>
            </a:r>
            <a:endParaRPr lang="en-US" sz="750" dirty="0"/>
          </a:p>
        </p:txBody>
      </p:sp>
      <p:sp>
        <p:nvSpPr>
          <p:cNvPr id="18" name="Text 16"/>
          <p:cNvSpPr/>
          <p:nvPr/>
        </p:nvSpPr>
        <p:spPr>
          <a:xfrm>
            <a:off x="4754880" y="3739896"/>
            <a:ext cx="1965960" cy="237744"/>
          </a:xfrm>
          <a:prstGeom prst="rect">
            <a:avLst/>
          </a:prstGeom>
          <a:noFill/>
          <a:ln/>
        </p:spPr>
        <p:txBody>
          <a:bodyPr wrap="square" rtlCol="0" anchor="ctr"/>
          <a:lstStyle/>
          <a:p>
            <a:pPr marL="0" indent="0" algn="ctr">
              <a:buNone/>
            </a:pPr>
            <a:r>
              <a:rPr lang="en-US" sz="900" dirty="0">
                <a:solidFill>
                  <a:srgbClr val="FFFFFF"/>
                </a:solidFill>
              </a:rPr>
              <a:t>M.SC IT — 6th Sem</a:t>
            </a:r>
            <a:endParaRPr lang="en-US" sz="900" dirty="0"/>
          </a:p>
        </p:txBody>
      </p:sp>
      <p:sp>
        <p:nvSpPr>
          <p:cNvPr id="19" name="Shape 17"/>
          <p:cNvSpPr/>
          <p:nvPr/>
        </p:nvSpPr>
        <p:spPr>
          <a:xfrm>
            <a:off x="6903720" y="3456432"/>
            <a:ext cx="1965960" cy="731520"/>
          </a:xfrm>
          <a:prstGeom prst="rect">
            <a:avLst/>
          </a:prstGeom>
          <a:solidFill>
            <a:srgbClr val="0D1E36"/>
          </a:solidFill>
          <a:ln w="12700">
            <a:solidFill>
              <a:srgbClr val="E05C41"/>
            </a:solidFill>
            <a:prstDash val="solid"/>
          </a:ln>
        </p:spPr>
      </p:sp>
      <p:sp>
        <p:nvSpPr>
          <p:cNvPr id="20" name="Text 18"/>
          <p:cNvSpPr/>
          <p:nvPr/>
        </p:nvSpPr>
        <p:spPr>
          <a:xfrm>
            <a:off x="6903720" y="3483864"/>
            <a:ext cx="1965960" cy="237744"/>
          </a:xfrm>
          <a:prstGeom prst="rect">
            <a:avLst/>
          </a:prstGeom>
          <a:noFill/>
          <a:ln/>
        </p:spPr>
        <p:txBody>
          <a:bodyPr wrap="square" rtlCol="0" anchor="ctr"/>
          <a:lstStyle/>
          <a:p>
            <a:pPr marL="0" indent="0" algn="ctr">
              <a:buNone/>
            </a:pPr>
            <a:r>
              <a:rPr lang="en-US" sz="750" b="1" dirty="0">
                <a:solidFill>
                  <a:srgbClr val="F4A261"/>
                </a:solidFill>
              </a:rPr>
              <a:t>Group ID</a:t>
            </a:r>
            <a:endParaRPr lang="en-US" sz="750" dirty="0"/>
          </a:p>
        </p:txBody>
      </p:sp>
      <p:sp>
        <p:nvSpPr>
          <p:cNvPr id="21" name="Text 19"/>
          <p:cNvSpPr/>
          <p:nvPr/>
        </p:nvSpPr>
        <p:spPr>
          <a:xfrm>
            <a:off x="6903720" y="3739896"/>
            <a:ext cx="1965960" cy="237744"/>
          </a:xfrm>
          <a:prstGeom prst="rect">
            <a:avLst/>
          </a:prstGeom>
          <a:noFill/>
          <a:ln/>
        </p:spPr>
        <p:txBody>
          <a:bodyPr wrap="square" rtlCol="0" anchor="ctr"/>
          <a:lstStyle/>
          <a:p>
            <a:pPr marL="0" indent="0" algn="ctr">
              <a:buNone/>
            </a:pPr>
            <a:r>
              <a:rPr lang="en-US" sz="900" dirty="0">
                <a:solidFill>
                  <a:srgbClr val="FFFFFF"/>
                </a:solidFill>
              </a:rPr>
              <a:t>3334</a:t>
            </a:r>
            <a:endParaRPr lang="en-US" sz="900" dirty="0"/>
          </a:p>
        </p:txBody>
      </p:sp>
      <p:sp>
        <p:nvSpPr>
          <p:cNvPr id="22" name="Shape 20"/>
          <p:cNvSpPr/>
          <p:nvPr/>
        </p:nvSpPr>
        <p:spPr>
          <a:xfrm>
            <a:off x="457200" y="4315968"/>
            <a:ext cx="8229600" cy="594360"/>
          </a:xfrm>
          <a:prstGeom prst="rect">
            <a:avLst/>
          </a:prstGeom>
          <a:solidFill>
            <a:srgbClr val="0D1E36"/>
          </a:solidFill>
          <a:ln w="12700">
            <a:solidFill>
              <a:srgbClr val="0D1E36"/>
            </a:solidFill>
            <a:prstDash val="solid"/>
          </a:ln>
        </p:spPr>
      </p:sp>
      <p:sp>
        <p:nvSpPr>
          <p:cNvPr id="23" name="Text 21"/>
          <p:cNvSpPr/>
          <p:nvPr/>
        </p:nvSpPr>
        <p:spPr>
          <a:xfrm>
            <a:off x="457200" y="4334256"/>
            <a:ext cx="8229600" cy="548640"/>
          </a:xfrm>
          <a:prstGeom prst="rect">
            <a:avLst/>
          </a:prstGeom>
          <a:noFill/>
          <a:ln/>
        </p:spPr>
        <p:txBody>
          <a:bodyPr wrap="square" rtlCol="0" anchor="ctr"/>
          <a:lstStyle/>
          <a:p>
            <a:pPr marL="0" indent="0" algn="ctr">
              <a:buNone/>
            </a:pPr>
            <a:r>
              <a:rPr lang="en-US" sz="850" dirty="0">
                <a:solidFill>
                  <a:srgbClr val="8FAEC5"/>
                </a:solidFill>
              </a:rPr>
              <a:t>K.S. School of Business Management &amp; IT, Gujarat University   |   Org: Simploona Technosoft LLP   |   Guide: Yogendrabhai Panchal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Text 1"/>
          <p:cNvSpPr/>
          <p:nvPr/>
        </p:nvSpPr>
        <p:spPr>
          <a:xfrm>
            <a:off x="457200" y="73152"/>
            <a:ext cx="5486400" cy="347472"/>
          </a:xfrm>
          <a:prstGeom prst="rect">
            <a:avLst/>
          </a:prstGeom>
          <a:noFill/>
          <a:ln/>
        </p:spPr>
        <p:txBody>
          <a:bodyPr wrap="square" rtlCol="0" anchor="ctr"/>
          <a:lstStyle/>
          <a:p>
            <a:pPr marL="0" indent="0">
              <a:buNone/>
            </a:pPr>
            <a:r>
              <a:rPr lang="en-US" sz="900" b="1" kern="0" spc="200" dirty="0">
                <a:solidFill>
                  <a:srgbClr val="F4A261"/>
                </a:solidFill>
              </a:rPr>
              <a:t>02  /  Introduction</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2100" b="1" dirty="0">
                <a:solidFill>
                  <a:srgbClr val="FFFFFF"/>
                </a:solidFill>
              </a:rPr>
              <a:t>About the Internship &amp; Project</a:t>
            </a:r>
            <a:endParaRPr lang="en-US" sz="2100" dirty="0"/>
          </a:p>
        </p:txBody>
      </p:sp>
      <p:sp>
        <p:nvSpPr>
          <p:cNvPr id="5" name="Shape 3"/>
          <p:cNvSpPr/>
          <p:nvPr/>
        </p:nvSpPr>
        <p:spPr>
          <a:xfrm>
            <a:off x="274320" y="1097280"/>
            <a:ext cx="2743200" cy="374904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6" name="Shape 4"/>
          <p:cNvSpPr/>
          <p:nvPr/>
        </p:nvSpPr>
        <p:spPr>
          <a:xfrm>
            <a:off x="274320" y="1097280"/>
            <a:ext cx="2743200" cy="475488"/>
          </a:xfrm>
          <a:prstGeom prst="rect">
            <a:avLst/>
          </a:prstGeom>
          <a:solidFill>
            <a:srgbClr val="E05C41"/>
          </a:solidFill>
          <a:ln w="12700">
            <a:solidFill>
              <a:srgbClr val="E05C41"/>
            </a:solidFill>
            <a:prstDash val="solid"/>
          </a:ln>
        </p:spPr>
      </p:sp>
      <p:sp>
        <p:nvSpPr>
          <p:cNvPr id="7" name="Text 5"/>
          <p:cNvSpPr/>
          <p:nvPr/>
        </p:nvSpPr>
        <p:spPr>
          <a:xfrm>
            <a:off x="274320" y="1097280"/>
            <a:ext cx="2743200" cy="475488"/>
          </a:xfrm>
          <a:prstGeom prst="rect">
            <a:avLst/>
          </a:prstGeom>
          <a:noFill/>
          <a:ln/>
        </p:spPr>
        <p:txBody>
          <a:bodyPr wrap="square" rtlCol="0" anchor="ctr"/>
          <a:lstStyle/>
          <a:p>
            <a:pPr marL="0" indent="0" algn="ctr">
              <a:buNone/>
            </a:pPr>
            <a:r>
              <a:rPr lang="en-US" sz="1100" b="1" dirty="0">
                <a:solidFill>
                  <a:srgbClr val="FFFFFF"/>
                </a:solidFill>
              </a:rPr>
              <a:t>Internship Overview</a:t>
            </a:r>
            <a:endParaRPr lang="en-US" sz="1100" dirty="0"/>
          </a:p>
        </p:txBody>
      </p:sp>
      <p:sp>
        <p:nvSpPr>
          <p:cNvPr id="8" name="Text 6"/>
          <p:cNvSpPr/>
          <p:nvPr/>
        </p:nvSpPr>
        <p:spPr>
          <a:xfrm>
            <a:off x="384048" y="1645920"/>
            <a:ext cx="2523744" cy="3108960"/>
          </a:xfrm>
          <a:prstGeom prst="rect">
            <a:avLst/>
          </a:prstGeom>
          <a:noFill/>
          <a:ln/>
        </p:spPr>
        <p:txBody>
          <a:bodyPr wrap="square" rtlCol="0" anchor="t"/>
          <a:lstStyle/>
          <a:p>
            <a:pPr marL="0" indent="0">
              <a:spcAft>
                <a:spcPts val="300"/>
              </a:spcAft>
              <a:buNone/>
            </a:pPr>
            <a:r>
              <a:rPr lang="en-US" sz="1000" dirty="0">
                <a:solidFill>
                  <a:srgbClr val="4A5568"/>
                </a:solidFill>
              </a:rPr>
              <a:t>This project was completed as part of a 120-hour Software Development internship at Simploona Technosoft LLP. The objective was to build a real-world web application from scratch — experiencing every stage of the development life cycle. It helped in understanding how professional software projects are planned, designed, developed, tested, and finally deployed for end users.</a:t>
            </a:r>
            <a:endParaRPr lang="en-US" sz="1000" dirty="0"/>
          </a:p>
        </p:txBody>
      </p:sp>
      <p:sp>
        <p:nvSpPr>
          <p:cNvPr id="9" name="Shape 7"/>
          <p:cNvSpPr/>
          <p:nvPr/>
        </p:nvSpPr>
        <p:spPr>
          <a:xfrm>
            <a:off x="3154680" y="1097280"/>
            <a:ext cx="2743200" cy="374904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10" name="Shape 8"/>
          <p:cNvSpPr/>
          <p:nvPr/>
        </p:nvSpPr>
        <p:spPr>
          <a:xfrm>
            <a:off x="3154680" y="1097280"/>
            <a:ext cx="2743200" cy="475488"/>
          </a:xfrm>
          <a:prstGeom prst="rect">
            <a:avLst/>
          </a:prstGeom>
          <a:solidFill>
            <a:srgbClr val="38B2AC"/>
          </a:solidFill>
          <a:ln w="12700">
            <a:solidFill>
              <a:srgbClr val="38B2AC"/>
            </a:solidFill>
            <a:prstDash val="solid"/>
          </a:ln>
        </p:spPr>
      </p:sp>
      <p:sp>
        <p:nvSpPr>
          <p:cNvPr id="11" name="Text 9"/>
          <p:cNvSpPr/>
          <p:nvPr/>
        </p:nvSpPr>
        <p:spPr>
          <a:xfrm>
            <a:off x="3154680" y="1097280"/>
            <a:ext cx="2743200" cy="475488"/>
          </a:xfrm>
          <a:prstGeom prst="rect">
            <a:avLst/>
          </a:prstGeom>
          <a:noFill/>
          <a:ln/>
        </p:spPr>
        <p:txBody>
          <a:bodyPr wrap="square" rtlCol="0" anchor="ctr"/>
          <a:lstStyle/>
          <a:p>
            <a:pPr marL="0" indent="0" algn="ctr">
              <a:buNone/>
            </a:pPr>
            <a:r>
              <a:rPr lang="en-US" sz="1100" b="1" dirty="0">
                <a:solidFill>
                  <a:srgbClr val="FFFFFF"/>
                </a:solidFill>
              </a:rPr>
              <a:t>Domain — Software Development</a:t>
            </a:r>
            <a:endParaRPr lang="en-US" sz="1100" dirty="0"/>
          </a:p>
        </p:txBody>
      </p:sp>
      <p:sp>
        <p:nvSpPr>
          <p:cNvPr id="12" name="Text 10"/>
          <p:cNvSpPr/>
          <p:nvPr/>
        </p:nvSpPr>
        <p:spPr>
          <a:xfrm>
            <a:off x="3264408" y="1645920"/>
            <a:ext cx="2523744" cy="3108960"/>
          </a:xfrm>
          <a:prstGeom prst="rect">
            <a:avLst/>
          </a:prstGeom>
          <a:noFill/>
          <a:ln/>
        </p:spPr>
        <p:txBody>
          <a:bodyPr wrap="square" rtlCol="0" anchor="t"/>
          <a:lstStyle/>
          <a:p>
            <a:pPr marL="0" indent="0">
              <a:spcAft>
                <a:spcPts val="300"/>
              </a:spcAft>
              <a:buNone/>
            </a:pPr>
            <a:r>
              <a:rPr lang="en-US" sz="1000" dirty="0">
                <a:solidFill>
                  <a:srgbClr val="4A5568"/>
                </a:solidFill>
              </a:rPr>
              <a:t>The project belongs to the Software Development domain, specifically Full-Stack Web Development. This means both the user-facing side (what users see and interact with) and the server-side logic (what happens behind the scenes) were built together. The focus was on creating a clean, usable, and reliable application that solves a real-life problem for everyday users.</a:t>
            </a:r>
            <a:endParaRPr lang="en-US" sz="1000" dirty="0"/>
          </a:p>
        </p:txBody>
      </p:sp>
      <p:sp>
        <p:nvSpPr>
          <p:cNvPr id="13" name="Shape 11"/>
          <p:cNvSpPr/>
          <p:nvPr/>
        </p:nvSpPr>
        <p:spPr>
          <a:xfrm>
            <a:off x="6035040" y="1097280"/>
            <a:ext cx="2743200" cy="374904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14" name="Shape 12"/>
          <p:cNvSpPr/>
          <p:nvPr/>
        </p:nvSpPr>
        <p:spPr>
          <a:xfrm>
            <a:off x="6035040" y="1097280"/>
            <a:ext cx="2743200" cy="475488"/>
          </a:xfrm>
          <a:prstGeom prst="rect">
            <a:avLst/>
          </a:prstGeom>
          <a:solidFill>
            <a:srgbClr val="F4A261"/>
          </a:solidFill>
          <a:ln w="12700">
            <a:solidFill>
              <a:srgbClr val="F4A261"/>
            </a:solidFill>
            <a:prstDash val="solid"/>
          </a:ln>
        </p:spPr>
      </p:sp>
      <p:sp>
        <p:nvSpPr>
          <p:cNvPr id="15" name="Text 13"/>
          <p:cNvSpPr/>
          <p:nvPr/>
        </p:nvSpPr>
        <p:spPr>
          <a:xfrm>
            <a:off x="6035040" y="1097280"/>
            <a:ext cx="2743200" cy="475488"/>
          </a:xfrm>
          <a:prstGeom prst="rect">
            <a:avLst/>
          </a:prstGeom>
          <a:noFill/>
          <a:ln/>
        </p:spPr>
        <p:txBody>
          <a:bodyPr wrap="square" rtlCol="0" anchor="ctr"/>
          <a:lstStyle/>
          <a:p>
            <a:pPr marL="0" indent="0" algn="ctr">
              <a:buNone/>
            </a:pPr>
            <a:r>
              <a:rPr lang="en-US" sz="1100" b="1" dirty="0">
                <a:solidFill>
                  <a:srgbClr val="FFFFFF"/>
                </a:solidFill>
              </a:rPr>
              <a:t>Duration &amp; Phases</a:t>
            </a:r>
            <a:endParaRPr lang="en-US" sz="1100" dirty="0"/>
          </a:p>
        </p:txBody>
      </p:sp>
      <p:sp>
        <p:nvSpPr>
          <p:cNvPr id="16" name="Text 14"/>
          <p:cNvSpPr/>
          <p:nvPr/>
        </p:nvSpPr>
        <p:spPr>
          <a:xfrm>
            <a:off x="6144768" y="1645920"/>
            <a:ext cx="2523744" cy="3108960"/>
          </a:xfrm>
          <a:prstGeom prst="rect">
            <a:avLst/>
          </a:prstGeom>
          <a:noFill/>
          <a:ln/>
        </p:spPr>
        <p:txBody>
          <a:bodyPr wrap="square" rtlCol="0" anchor="t"/>
          <a:lstStyle/>
          <a:p>
            <a:pPr marL="0" indent="0">
              <a:spcAft>
                <a:spcPts val="300"/>
              </a:spcAft>
              <a:buNone/>
            </a:pPr>
            <a:r>
              <a:rPr lang="en-US" sz="1000" dirty="0">
                <a:solidFill>
                  <a:srgbClr val="4A5568"/>
                </a:solidFill>
              </a:rPr>
              <a:t>Total Duration: 120 Hours</a:t>
            </a:r>
            <a:endParaRPr lang="en-US" sz="1000" dirty="0"/>
          </a:p>
          <a:p>
            <a:pPr marL="0" indent="0">
              <a:spcAft>
                <a:spcPts val="300"/>
              </a:spcAft>
              <a:buNone/>
            </a:pPr>
            <a:endParaRPr lang="en-US" sz="1000" dirty="0"/>
          </a:p>
          <a:p>
            <a:pPr marL="0" indent="0">
              <a:spcAft>
                <a:spcPts val="300"/>
              </a:spcAft>
              <a:buNone/>
            </a:pPr>
            <a:r>
              <a:rPr lang="en-US" sz="1000" dirty="0">
                <a:solidFill>
                  <a:srgbClr val="4A5568"/>
                </a:solidFill>
              </a:rPr>
              <a:t>The internship was divided into five clear phases:</a:t>
            </a:r>
            <a:endParaRPr lang="en-US" sz="1000" dirty="0"/>
          </a:p>
          <a:p>
            <a:pPr marL="0" indent="0">
              <a:spcAft>
                <a:spcPts val="300"/>
              </a:spcAft>
              <a:buNone/>
            </a:pPr>
            <a:r>
              <a:rPr lang="en-US" sz="1000" dirty="0">
                <a:solidFill>
                  <a:srgbClr val="4A5568"/>
                </a:solidFill>
              </a:rPr>
              <a:t>  Phase 1 — Requirement gathering &amp; planning</a:t>
            </a:r>
            <a:endParaRPr lang="en-US" sz="1000" dirty="0"/>
          </a:p>
          <a:p>
            <a:pPr marL="0" indent="0">
              <a:spcAft>
                <a:spcPts val="300"/>
              </a:spcAft>
              <a:buNone/>
            </a:pPr>
            <a:r>
              <a:rPr lang="en-US" sz="1000" dirty="0">
                <a:solidFill>
                  <a:srgbClr val="4A5568"/>
                </a:solidFill>
              </a:rPr>
              <a:t>  Phase 2 — UI design &amp; database structure</a:t>
            </a:r>
            <a:endParaRPr lang="en-US" sz="1000" dirty="0"/>
          </a:p>
          <a:p>
            <a:pPr marL="0" indent="0">
              <a:spcAft>
                <a:spcPts val="300"/>
              </a:spcAft>
              <a:buNone/>
            </a:pPr>
            <a:r>
              <a:rPr lang="en-US" sz="1000" dirty="0">
                <a:solidFill>
                  <a:srgbClr val="4A5568"/>
                </a:solidFill>
              </a:rPr>
              <a:t>  Phase 3 — Actual development (coding)</a:t>
            </a:r>
            <a:endParaRPr lang="en-US" sz="1000" dirty="0"/>
          </a:p>
          <a:p>
            <a:pPr marL="0" indent="0">
              <a:spcAft>
                <a:spcPts val="300"/>
              </a:spcAft>
              <a:buNone/>
            </a:pPr>
            <a:r>
              <a:rPr lang="en-US" sz="1000" dirty="0">
                <a:solidFill>
                  <a:srgbClr val="4A5568"/>
                </a:solidFill>
              </a:rPr>
              <a:t>  Phase 4 — Testing &amp; bug fixing</a:t>
            </a:r>
            <a:endParaRPr lang="en-US" sz="1000" dirty="0"/>
          </a:p>
          <a:p>
            <a:pPr marL="0" indent="0">
              <a:spcAft>
                <a:spcPts val="300"/>
              </a:spcAft>
              <a:buNone/>
            </a:pPr>
            <a:r>
              <a:rPr lang="en-US" sz="1000" dirty="0">
                <a:solidFill>
                  <a:srgbClr val="4A5568"/>
                </a:solidFill>
              </a:rPr>
              <a:t>  Phase 5 — Deployment &amp; documentation</a:t>
            </a:r>
            <a:endParaRPr lang="en-US" sz="1000" dirty="0"/>
          </a:p>
          <a:p>
            <a:pPr marL="0" indent="0">
              <a:spcAft>
                <a:spcPts val="300"/>
              </a:spcAft>
              <a:buNone/>
            </a:pPr>
            <a:endParaRPr lang="en-US" sz="1000" dirty="0"/>
          </a:p>
          <a:p>
            <a:pPr marL="0" indent="0">
              <a:spcAft>
                <a:spcPts val="300"/>
              </a:spcAft>
              <a:buNone/>
            </a:pPr>
            <a:r>
              <a:rPr lang="en-US" sz="1000" dirty="0">
                <a:solidFill>
                  <a:srgbClr val="4A5568"/>
                </a:solidFill>
              </a:rPr>
              <a:t>Platform: Cross-platform Web Application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05C41"/>
          </a:solidFill>
          <a:ln w="12700">
            <a:solidFill>
              <a:srgbClr val="E05C41"/>
            </a:solidFill>
            <a:prstDash val="solid"/>
          </a:ln>
        </p:spPr>
      </p:sp>
      <p:sp>
        <p:nvSpPr>
          <p:cNvPr id="3" name="Text 1"/>
          <p:cNvSpPr/>
          <p:nvPr/>
        </p:nvSpPr>
        <p:spPr>
          <a:xfrm>
            <a:off x="457200" y="73152"/>
            <a:ext cx="5486400" cy="347472"/>
          </a:xfrm>
          <a:prstGeom prst="rect">
            <a:avLst/>
          </a:prstGeom>
          <a:noFill/>
          <a:ln/>
        </p:spPr>
        <p:txBody>
          <a:bodyPr wrap="square" rtlCol="0" anchor="ctr"/>
          <a:lstStyle/>
          <a:p>
            <a:pPr marL="0" indent="0">
              <a:buNone/>
            </a:pPr>
            <a:r>
              <a:rPr lang="en-US" sz="900" b="1" kern="0" spc="200" dirty="0">
                <a:solidFill>
                  <a:srgbClr val="FFF1E6"/>
                </a:solidFill>
              </a:rPr>
              <a:t>03  /  Project Overview</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2100" b="1" dirty="0">
                <a:solidFill>
                  <a:srgbClr val="FFFFFF"/>
                </a:solidFill>
              </a:rPr>
              <a:t>What is ServiceHub? Purpose &amp; Target Users</a:t>
            </a:r>
            <a:endParaRPr lang="en-US" sz="2100" dirty="0"/>
          </a:p>
        </p:txBody>
      </p:sp>
      <p:sp>
        <p:nvSpPr>
          <p:cNvPr id="5" name="Shape 3"/>
          <p:cNvSpPr/>
          <p:nvPr/>
        </p:nvSpPr>
        <p:spPr>
          <a:xfrm>
            <a:off x="274320" y="1078992"/>
            <a:ext cx="4114800" cy="379476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6" name="Text 4"/>
          <p:cNvSpPr/>
          <p:nvPr/>
        </p:nvSpPr>
        <p:spPr>
          <a:xfrm>
            <a:off x="457200" y="1188720"/>
            <a:ext cx="3749040" cy="292608"/>
          </a:xfrm>
          <a:prstGeom prst="rect">
            <a:avLst/>
          </a:prstGeom>
          <a:noFill/>
          <a:ln/>
        </p:spPr>
        <p:txBody>
          <a:bodyPr wrap="square" rtlCol="0" anchor="ctr"/>
          <a:lstStyle/>
          <a:p>
            <a:pPr marL="0" indent="0">
              <a:buNone/>
            </a:pPr>
            <a:r>
              <a:rPr lang="en-US" sz="900" b="1" dirty="0">
                <a:solidFill>
                  <a:srgbClr val="E05C41"/>
                </a:solidFill>
              </a:rPr>
              <a:t>Project Name</a:t>
            </a:r>
            <a:endParaRPr lang="en-US" sz="900" dirty="0"/>
          </a:p>
        </p:txBody>
      </p:sp>
      <p:sp>
        <p:nvSpPr>
          <p:cNvPr id="7" name="Text 5"/>
          <p:cNvSpPr/>
          <p:nvPr/>
        </p:nvSpPr>
        <p:spPr>
          <a:xfrm>
            <a:off x="457200" y="1444752"/>
            <a:ext cx="3749040" cy="457200"/>
          </a:xfrm>
          <a:prstGeom prst="rect">
            <a:avLst/>
          </a:prstGeom>
          <a:noFill/>
          <a:ln/>
        </p:spPr>
        <p:txBody>
          <a:bodyPr wrap="square" rtlCol="0" anchor="ctr"/>
          <a:lstStyle/>
          <a:p>
            <a:pPr marL="0" indent="0">
              <a:buNone/>
            </a:pPr>
            <a:r>
              <a:rPr lang="en-US" sz="2600" b="1" dirty="0">
                <a:solidFill>
                  <a:srgbClr val="1B2A4A"/>
                </a:solidFill>
                <a:latin typeface="Calibri" pitchFamily="34" charset="0"/>
                <a:ea typeface="Calibri" pitchFamily="34" charset="-122"/>
                <a:cs typeface="Calibri" pitchFamily="34" charset="-120"/>
              </a:rPr>
              <a:t>ServiceHub</a:t>
            </a:r>
            <a:endParaRPr lang="en-US" sz="2600" dirty="0"/>
          </a:p>
        </p:txBody>
      </p:sp>
      <p:sp>
        <p:nvSpPr>
          <p:cNvPr id="8" name="Shape 6"/>
          <p:cNvSpPr/>
          <p:nvPr/>
        </p:nvSpPr>
        <p:spPr>
          <a:xfrm>
            <a:off x="457200" y="1956816"/>
            <a:ext cx="3657600" cy="0"/>
          </a:xfrm>
          <a:prstGeom prst="line">
            <a:avLst/>
          </a:prstGeom>
          <a:noFill/>
          <a:ln w="12700">
            <a:solidFill>
              <a:srgbClr val="E2E8F0"/>
            </a:solidFill>
            <a:prstDash val="solid"/>
          </a:ln>
        </p:spPr>
      </p:sp>
      <p:sp>
        <p:nvSpPr>
          <p:cNvPr id="9" name="Text 7"/>
          <p:cNvSpPr/>
          <p:nvPr/>
        </p:nvSpPr>
        <p:spPr>
          <a:xfrm>
            <a:off x="457200" y="2029968"/>
            <a:ext cx="3749040" cy="292608"/>
          </a:xfrm>
          <a:prstGeom prst="rect">
            <a:avLst/>
          </a:prstGeom>
          <a:noFill/>
          <a:ln/>
        </p:spPr>
        <p:txBody>
          <a:bodyPr wrap="square" rtlCol="0" anchor="ctr"/>
          <a:lstStyle/>
          <a:p>
            <a:pPr marL="0" indent="0">
              <a:buNone/>
            </a:pPr>
            <a:r>
              <a:rPr lang="en-US" sz="900" b="1" dirty="0">
                <a:solidFill>
                  <a:srgbClr val="E05C41"/>
                </a:solidFill>
              </a:rPr>
              <a:t>Purpose of the Software</a:t>
            </a:r>
            <a:endParaRPr lang="en-US" sz="900" dirty="0"/>
          </a:p>
        </p:txBody>
      </p:sp>
      <p:sp>
        <p:nvSpPr>
          <p:cNvPr id="10" name="Text 8"/>
          <p:cNvSpPr/>
          <p:nvPr/>
        </p:nvSpPr>
        <p:spPr>
          <a:xfrm>
            <a:off x="457200" y="2340864"/>
            <a:ext cx="3749040" cy="1417320"/>
          </a:xfrm>
          <a:prstGeom prst="rect">
            <a:avLst/>
          </a:prstGeom>
          <a:noFill/>
          <a:ln/>
        </p:spPr>
        <p:txBody>
          <a:bodyPr wrap="square" rtlCol="0" anchor="ctr"/>
          <a:lstStyle/>
          <a:p>
            <a:pPr marL="0" indent="0">
              <a:spcAft>
                <a:spcPts val="200"/>
              </a:spcAft>
              <a:buNone/>
            </a:pPr>
            <a:r>
              <a:rPr lang="en-US" sz="1000" dirty="0">
                <a:solidFill>
                  <a:srgbClr val="4A5568"/>
                </a:solidFill>
              </a:rPr>
              <a:t>ServiceHub was created to solve a very common everyday problem — people often struggle to find reliable local service workers like electricians, plumbers, or cleaners. This platform makes it easy for anyone to search for a service, view the provider's details and pricing, and book an appointment — all from a single website. It brings clients and skilled workers together on one trusted platform.</a:t>
            </a:r>
            <a:endParaRPr lang="en-US" sz="1000" dirty="0"/>
          </a:p>
        </p:txBody>
      </p:sp>
      <p:sp>
        <p:nvSpPr>
          <p:cNvPr id="11" name="Shape 9"/>
          <p:cNvSpPr/>
          <p:nvPr/>
        </p:nvSpPr>
        <p:spPr>
          <a:xfrm>
            <a:off x="457200" y="3794760"/>
            <a:ext cx="3657600" cy="0"/>
          </a:xfrm>
          <a:prstGeom prst="line">
            <a:avLst/>
          </a:prstGeom>
          <a:noFill/>
          <a:ln w="12700">
            <a:solidFill>
              <a:srgbClr val="E2E8F0"/>
            </a:solidFill>
            <a:prstDash val="solid"/>
          </a:ln>
        </p:spPr>
      </p:sp>
      <p:sp>
        <p:nvSpPr>
          <p:cNvPr id="12" name="Text 10"/>
          <p:cNvSpPr/>
          <p:nvPr/>
        </p:nvSpPr>
        <p:spPr>
          <a:xfrm>
            <a:off x="457200" y="3858768"/>
            <a:ext cx="3749040" cy="256032"/>
          </a:xfrm>
          <a:prstGeom prst="rect">
            <a:avLst/>
          </a:prstGeom>
          <a:noFill/>
          <a:ln/>
        </p:spPr>
        <p:txBody>
          <a:bodyPr wrap="square" rtlCol="0" anchor="ctr"/>
          <a:lstStyle/>
          <a:p>
            <a:pPr marL="0" indent="0">
              <a:buNone/>
            </a:pPr>
            <a:r>
              <a:rPr lang="en-US" sz="900" b="1" dirty="0">
                <a:solidFill>
                  <a:srgbClr val="E05C41"/>
                </a:solidFill>
              </a:rPr>
              <a:t>Platform</a:t>
            </a:r>
            <a:endParaRPr lang="en-US" sz="900" dirty="0"/>
          </a:p>
        </p:txBody>
      </p:sp>
      <p:sp>
        <p:nvSpPr>
          <p:cNvPr id="13" name="Text 11"/>
          <p:cNvSpPr/>
          <p:nvPr/>
        </p:nvSpPr>
        <p:spPr>
          <a:xfrm>
            <a:off x="457200" y="4114800"/>
            <a:ext cx="3749040" cy="320040"/>
          </a:xfrm>
          <a:prstGeom prst="rect">
            <a:avLst/>
          </a:prstGeom>
          <a:noFill/>
          <a:ln/>
        </p:spPr>
        <p:txBody>
          <a:bodyPr wrap="square" rtlCol="0" anchor="ctr"/>
          <a:lstStyle/>
          <a:p>
            <a:pPr marL="0" indent="0">
              <a:buNone/>
            </a:pPr>
            <a:r>
              <a:rPr lang="en-US" sz="1000" dirty="0">
                <a:solidFill>
                  <a:srgbClr val="4A5568"/>
                </a:solidFill>
              </a:rPr>
              <a:t>Responsive Web Application — works on Desktop &amp; Mobile</a:t>
            </a:r>
            <a:endParaRPr lang="en-US" sz="1000" dirty="0"/>
          </a:p>
        </p:txBody>
      </p:sp>
      <p:sp>
        <p:nvSpPr>
          <p:cNvPr id="14" name="Shape 12"/>
          <p:cNvSpPr/>
          <p:nvPr/>
        </p:nvSpPr>
        <p:spPr>
          <a:xfrm>
            <a:off x="4572000" y="1078992"/>
            <a:ext cx="4297680" cy="3794760"/>
          </a:xfrm>
          <a:prstGeom prst="rect">
            <a:avLst/>
          </a:prstGeom>
          <a:solidFill>
            <a:srgbClr val="1B2A4A"/>
          </a:solidFill>
          <a:ln w="12700">
            <a:solidFill>
              <a:srgbClr val="1B2A4A"/>
            </a:solidFill>
            <a:prstDash val="solid"/>
          </a:ln>
          <a:effectLst>
            <a:outerShdw blurRad="177800" dist="50800" dir="8100000" algn="bl" rotWithShape="0">
              <a:srgbClr val="000000">
                <a:alpha val="7000"/>
              </a:srgbClr>
            </a:outerShdw>
          </a:effectLst>
        </p:spPr>
      </p:sp>
      <p:sp>
        <p:nvSpPr>
          <p:cNvPr id="15" name="Text 13"/>
          <p:cNvSpPr/>
          <p:nvPr/>
        </p:nvSpPr>
        <p:spPr>
          <a:xfrm>
            <a:off x="4709160" y="1188720"/>
            <a:ext cx="4023360" cy="347472"/>
          </a:xfrm>
          <a:prstGeom prst="rect">
            <a:avLst/>
          </a:prstGeom>
          <a:noFill/>
          <a:ln/>
        </p:spPr>
        <p:txBody>
          <a:bodyPr wrap="square" rtlCol="0" anchor="ctr"/>
          <a:lstStyle/>
          <a:p>
            <a:pPr marL="0" indent="0">
              <a:buNone/>
            </a:pPr>
            <a:r>
              <a:rPr lang="en-US" sz="1200" b="1" dirty="0">
                <a:solidFill>
                  <a:srgbClr val="F4A261"/>
                </a:solidFill>
              </a:rPr>
              <a:t>Who Will Use This Application?</a:t>
            </a:r>
            <a:endParaRPr lang="en-US" sz="1200" dirty="0"/>
          </a:p>
        </p:txBody>
      </p:sp>
      <p:sp>
        <p:nvSpPr>
          <p:cNvPr id="16" name="Shape 14"/>
          <p:cNvSpPr/>
          <p:nvPr/>
        </p:nvSpPr>
        <p:spPr>
          <a:xfrm>
            <a:off x="4709160" y="1664208"/>
            <a:ext cx="4023360" cy="896112"/>
          </a:xfrm>
          <a:prstGeom prst="rect">
            <a:avLst/>
          </a:prstGeom>
          <a:solidFill>
            <a:srgbClr val="0D1E36"/>
          </a:solidFill>
          <a:ln w="12700">
            <a:solidFill>
              <a:srgbClr val="E05C41"/>
            </a:solidFill>
            <a:prstDash val="solid"/>
          </a:ln>
        </p:spPr>
      </p:sp>
      <p:sp>
        <p:nvSpPr>
          <p:cNvPr id="17" name="Text 15"/>
          <p:cNvSpPr/>
          <p:nvPr/>
        </p:nvSpPr>
        <p:spPr>
          <a:xfrm>
            <a:off x="4828032" y="1709928"/>
            <a:ext cx="3749040" cy="274320"/>
          </a:xfrm>
          <a:prstGeom prst="rect">
            <a:avLst/>
          </a:prstGeom>
          <a:noFill/>
          <a:ln/>
        </p:spPr>
        <p:txBody>
          <a:bodyPr wrap="square" rtlCol="0" anchor="ctr"/>
          <a:lstStyle/>
          <a:p>
            <a:pPr marL="0" indent="0">
              <a:buNone/>
            </a:pPr>
            <a:r>
              <a:rPr lang="en-US" sz="1050" b="1" dirty="0">
                <a:solidFill>
                  <a:srgbClr val="E05C41"/>
                </a:solidFill>
              </a:rPr>
              <a:t>Clients / Homeowners</a:t>
            </a:r>
            <a:endParaRPr lang="en-US" sz="1050" dirty="0"/>
          </a:p>
        </p:txBody>
      </p:sp>
      <p:sp>
        <p:nvSpPr>
          <p:cNvPr id="18" name="Text 16"/>
          <p:cNvSpPr/>
          <p:nvPr/>
        </p:nvSpPr>
        <p:spPr>
          <a:xfrm>
            <a:off x="4828032" y="1993392"/>
            <a:ext cx="3749040" cy="530352"/>
          </a:xfrm>
          <a:prstGeom prst="rect">
            <a:avLst/>
          </a:prstGeom>
          <a:noFill/>
          <a:ln/>
        </p:spPr>
        <p:txBody>
          <a:bodyPr wrap="square" rtlCol="0" anchor="ctr"/>
          <a:lstStyle/>
          <a:p>
            <a:pPr marL="0" indent="0">
              <a:buNone/>
            </a:pPr>
            <a:r>
              <a:rPr lang="en-US" sz="850" dirty="0">
                <a:solidFill>
                  <a:srgbClr val="A8C0D0"/>
                </a:solidFill>
              </a:rPr>
              <a:t>Any person who needs a home service can register as a Client. They can browse available services, view provider profiles, check pricing, and book an appointment at a convenient date and time. They can also track the status of their bookings and cancel if needed.</a:t>
            </a:r>
            <a:endParaRPr lang="en-US" sz="850" dirty="0"/>
          </a:p>
        </p:txBody>
      </p:sp>
      <p:sp>
        <p:nvSpPr>
          <p:cNvPr id="19" name="Shape 17"/>
          <p:cNvSpPr/>
          <p:nvPr/>
        </p:nvSpPr>
        <p:spPr>
          <a:xfrm>
            <a:off x="4709160" y="2688336"/>
            <a:ext cx="4023360" cy="896112"/>
          </a:xfrm>
          <a:prstGeom prst="rect">
            <a:avLst/>
          </a:prstGeom>
          <a:solidFill>
            <a:srgbClr val="0D1E36"/>
          </a:solidFill>
          <a:ln w="12700">
            <a:solidFill>
              <a:srgbClr val="38B2AC"/>
            </a:solidFill>
            <a:prstDash val="solid"/>
          </a:ln>
        </p:spPr>
      </p:sp>
      <p:sp>
        <p:nvSpPr>
          <p:cNvPr id="20" name="Text 18"/>
          <p:cNvSpPr/>
          <p:nvPr/>
        </p:nvSpPr>
        <p:spPr>
          <a:xfrm>
            <a:off x="4828032" y="2734056"/>
            <a:ext cx="3749040" cy="274320"/>
          </a:xfrm>
          <a:prstGeom prst="rect">
            <a:avLst/>
          </a:prstGeom>
          <a:noFill/>
          <a:ln/>
        </p:spPr>
        <p:txBody>
          <a:bodyPr wrap="square" rtlCol="0" anchor="ctr"/>
          <a:lstStyle/>
          <a:p>
            <a:pPr marL="0" indent="0">
              <a:buNone/>
            </a:pPr>
            <a:r>
              <a:rPr lang="en-US" sz="1050" b="1" dirty="0">
                <a:solidFill>
                  <a:srgbClr val="38B2AC"/>
                </a:solidFill>
              </a:rPr>
              <a:t>Service Providers</a:t>
            </a:r>
            <a:endParaRPr lang="en-US" sz="1050" dirty="0"/>
          </a:p>
        </p:txBody>
      </p:sp>
      <p:sp>
        <p:nvSpPr>
          <p:cNvPr id="21" name="Text 19"/>
          <p:cNvSpPr/>
          <p:nvPr/>
        </p:nvSpPr>
        <p:spPr>
          <a:xfrm>
            <a:off x="4828032" y="3017520"/>
            <a:ext cx="3749040" cy="530352"/>
          </a:xfrm>
          <a:prstGeom prst="rect">
            <a:avLst/>
          </a:prstGeom>
          <a:noFill/>
          <a:ln/>
        </p:spPr>
        <p:txBody>
          <a:bodyPr wrap="square" rtlCol="0" anchor="ctr"/>
          <a:lstStyle/>
          <a:p>
            <a:pPr marL="0" indent="0">
              <a:buNone/>
            </a:pPr>
            <a:r>
              <a:rPr lang="en-US" sz="850" dirty="0">
                <a:solidFill>
                  <a:srgbClr val="A8C0D0"/>
                </a:solidFill>
              </a:rPr>
              <a:t>Skilled workers such as electricians, plumbers, and painters can register as Providers. They can list their services with descriptions and pricing, manage incoming booking requests, and update the status of each booking (accept, reject, or mark as complete).</a:t>
            </a:r>
            <a:endParaRPr lang="en-US" sz="850" dirty="0"/>
          </a:p>
        </p:txBody>
      </p:sp>
      <p:sp>
        <p:nvSpPr>
          <p:cNvPr id="22" name="Shape 20"/>
          <p:cNvSpPr/>
          <p:nvPr/>
        </p:nvSpPr>
        <p:spPr>
          <a:xfrm>
            <a:off x="4709160" y="3712464"/>
            <a:ext cx="4023360" cy="896112"/>
          </a:xfrm>
          <a:prstGeom prst="rect">
            <a:avLst/>
          </a:prstGeom>
          <a:solidFill>
            <a:srgbClr val="0D1E36"/>
          </a:solidFill>
          <a:ln w="12700">
            <a:solidFill>
              <a:srgbClr val="F4A261"/>
            </a:solidFill>
            <a:prstDash val="solid"/>
          </a:ln>
        </p:spPr>
      </p:sp>
      <p:sp>
        <p:nvSpPr>
          <p:cNvPr id="23" name="Text 21"/>
          <p:cNvSpPr/>
          <p:nvPr/>
        </p:nvSpPr>
        <p:spPr>
          <a:xfrm>
            <a:off x="4828032" y="3758184"/>
            <a:ext cx="3749040" cy="274320"/>
          </a:xfrm>
          <a:prstGeom prst="rect">
            <a:avLst/>
          </a:prstGeom>
          <a:noFill/>
          <a:ln/>
        </p:spPr>
        <p:txBody>
          <a:bodyPr wrap="square" rtlCol="0" anchor="ctr"/>
          <a:lstStyle/>
          <a:p>
            <a:pPr marL="0" indent="0">
              <a:buNone/>
            </a:pPr>
            <a:r>
              <a:rPr lang="en-US" sz="1050" b="1" dirty="0">
                <a:solidFill>
                  <a:srgbClr val="F4A261"/>
                </a:solidFill>
              </a:rPr>
              <a:t>Admin (Future Scope)</a:t>
            </a:r>
            <a:endParaRPr lang="en-US" sz="1050" dirty="0"/>
          </a:p>
        </p:txBody>
      </p:sp>
      <p:sp>
        <p:nvSpPr>
          <p:cNvPr id="24" name="Text 22"/>
          <p:cNvSpPr/>
          <p:nvPr/>
        </p:nvSpPr>
        <p:spPr>
          <a:xfrm>
            <a:off x="4828032" y="4041648"/>
            <a:ext cx="3749040" cy="530352"/>
          </a:xfrm>
          <a:prstGeom prst="rect">
            <a:avLst/>
          </a:prstGeom>
          <a:noFill/>
          <a:ln/>
        </p:spPr>
        <p:txBody>
          <a:bodyPr wrap="square" rtlCol="0" anchor="ctr"/>
          <a:lstStyle/>
          <a:p>
            <a:pPr marL="0" indent="0">
              <a:buNone/>
            </a:pPr>
            <a:r>
              <a:rPr lang="en-US" sz="850" dirty="0">
                <a:solidFill>
                  <a:srgbClr val="A8C0D0"/>
                </a:solidFill>
              </a:rPr>
              <a:t>A future admin panel will allow platform managers to verify service providers, handle disputes, monitor activity, and maintain quality control across the platform.</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Text 1"/>
          <p:cNvSpPr/>
          <p:nvPr/>
        </p:nvSpPr>
        <p:spPr>
          <a:xfrm>
            <a:off x="457200" y="73152"/>
            <a:ext cx="5486400" cy="347472"/>
          </a:xfrm>
          <a:prstGeom prst="rect">
            <a:avLst/>
          </a:prstGeom>
          <a:noFill/>
          <a:ln/>
        </p:spPr>
        <p:txBody>
          <a:bodyPr wrap="square" rtlCol="0" anchor="ctr"/>
          <a:lstStyle/>
          <a:p>
            <a:pPr marL="0" indent="0">
              <a:buNone/>
            </a:pPr>
            <a:r>
              <a:rPr lang="en-US" sz="900" b="1" kern="0" spc="200" dirty="0">
                <a:solidFill>
                  <a:srgbClr val="F4A261"/>
                </a:solidFill>
              </a:rPr>
              <a:t>04  /  Scope of the Project</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2100" b="1" dirty="0">
                <a:solidFill>
                  <a:srgbClr val="FFFFFF"/>
                </a:solidFill>
              </a:rPr>
              <a:t>Features Included, User Roles &amp; Limitations</a:t>
            </a:r>
            <a:endParaRPr lang="en-US" sz="2100" dirty="0"/>
          </a:p>
        </p:txBody>
      </p:sp>
      <p:sp>
        <p:nvSpPr>
          <p:cNvPr id="5" name="Shape 3"/>
          <p:cNvSpPr/>
          <p:nvPr/>
        </p:nvSpPr>
        <p:spPr>
          <a:xfrm>
            <a:off x="274320" y="1078992"/>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6" name="Shape 4"/>
          <p:cNvSpPr/>
          <p:nvPr/>
        </p:nvSpPr>
        <p:spPr>
          <a:xfrm>
            <a:off x="274320" y="1078992"/>
            <a:ext cx="64008" cy="768096"/>
          </a:xfrm>
          <a:prstGeom prst="rect">
            <a:avLst/>
          </a:prstGeom>
          <a:solidFill>
            <a:srgbClr val="E05C41"/>
          </a:solidFill>
          <a:ln w="12700">
            <a:solidFill>
              <a:srgbClr val="E05C41"/>
            </a:solidFill>
            <a:prstDash val="solid"/>
          </a:ln>
        </p:spPr>
      </p:sp>
      <p:sp>
        <p:nvSpPr>
          <p:cNvPr id="7" name="Text 5"/>
          <p:cNvSpPr/>
          <p:nvPr/>
        </p:nvSpPr>
        <p:spPr>
          <a:xfrm>
            <a:off x="438912" y="1124712"/>
            <a:ext cx="3977640" cy="256032"/>
          </a:xfrm>
          <a:prstGeom prst="rect">
            <a:avLst/>
          </a:prstGeom>
          <a:noFill/>
          <a:ln/>
        </p:spPr>
        <p:txBody>
          <a:bodyPr wrap="square" rtlCol="0" anchor="ctr"/>
          <a:lstStyle/>
          <a:p>
            <a:pPr marL="0" indent="0">
              <a:buNone/>
            </a:pPr>
            <a:r>
              <a:rPr lang="en-US" sz="1000" b="1" dirty="0">
                <a:solidFill>
                  <a:srgbClr val="1B2A4A"/>
                </a:solidFill>
              </a:rPr>
              <a:t>Search &amp; Filter Services</a:t>
            </a:r>
            <a:endParaRPr lang="en-US" sz="1000" dirty="0"/>
          </a:p>
        </p:txBody>
      </p:sp>
      <p:sp>
        <p:nvSpPr>
          <p:cNvPr id="8" name="Text 6"/>
          <p:cNvSpPr/>
          <p:nvPr/>
        </p:nvSpPr>
        <p:spPr>
          <a:xfrm>
            <a:off x="438912" y="1389888"/>
            <a:ext cx="3977640" cy="402336"/>
          </a:xfrm>
          <a:prstGeom prst="rect">
            <a:avLst/>
          </a:prstGeom>
          <a:noFill/>
          <a:ln/>
        </p:spPr>
        <p:txBody>
          <a:bodyPr wrap="square" rtlCol="0" anchor="ctr"/>
          <a:lstStyle/>
          <a:p>
            <a:pPr marL="0" indent="0">
              <a:buNone/>
            </a:pPr>
            <a:r>
              <a:rPr lang="en-US" sz="850" dirty="0">
                <a:solidFill>
                  <a:srgbClr val="4A5568"/>
                </a:solidFill>
              </a:rPr>
              <a:t>Users can search for services by name, filter by category (Electrical, Plumbing, etc.), and sort by location or price.</a:t>
            </a:r>
            <a:endParaRPr lang="en-US" sz="850" dirty="0"/>
          </a:p>
        </p:txBody>
      </p:sp>
      <p:sp>
        <p:nvSpPr>
          <p:cNvPr id="9" name="Shape 7"/>
          <p:cNvSpPr/>
          <p:nvPr/>
        </p:nvSpPr>
        <p:spPr>
          <a:xfrm>
            <a:off x="4709160" y="1078992"/>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10" name="Shape 8"/>
          <p:cNvSpPr/>
          <p:nvPr/>
        </p:nvSpPr>
        <p:spPr>
          <a:xfrm>
            <a:off x="4709160" y="1078992"/>
            <a:ext cx="64008" cy="768096"/>
          </a:xfrm>
          <a:prstGeom prst="rect">
            <a:avLst/>
          </a:prstGeom>
          <a:solidFill>
            <a:srgbClr val="38B2AC"/>
          </a:solidFill>
          <a:ln w="12700">
            <a:solidFill>
              <a:srgbClr val="38B2AC"/>
            </a:solidFill>
            <a:prstDash val="solid"/>
          </a:ln>
        </p:spPr>
      </p:sp>
      <p:sp>
        <p:nvSpPr>
          <p:cNvPr id="11" name="Text 9"/>
          <p:cNvSpPr/>
          <p:nvPr/>
        </p:nvSpPr>
        <p:spPr>
          <a:xfrm>
            <a:off x="4873752" y="1124712"/>
            <a:ext cx="3977640" cy="256032"/>
          </a:xfrm>
          <a:prstGeom prst="rect">
            <a:avLst/>
          </a:prstGeom>
          <a:noFill/>
          <a:ln/>
        </p:spPr>
        <p:txBody>
          <a:bodyPr wrap="square" rtlCol="0" anchor="ctr"/>
          <a:lstStyle/>
          <a:p>
            <a:pPr marL="0" indent="0">
              <a:buNone/>
            </a:pPr>
            <a:r>
              <a:rPr lang="en-US" sz="1000" b="1" dirty="0">
                <a:solidFill>
                  <a:srgbClr val="1B2A4A"/>
                </a:solidFill>
              </a:rPr>
              <a:t>Appointment Booking System</a:t>
            </a:r>
            <a:endParaRPr lang="en-US" sz="1000" dirty="0"/>
          </a:p>
        </p:txBody>
      </p:sp>
      <p:sp>
        <p:nvSpPr>
          <p:cNvPr id="12" name="Text 10"/>
          <p:cNvSpPr/>
          <p:nvPr/>
        </p:nvSpPr>
        <p:spPr>
          <a:xfrm>
            <a:off x="4873752" y="1389888"/>
            <a:ext cx="3977640" cy="402336"/>
          </a:xfrm>
          <a:prstGeom prst="rect">
            <a:avLst/>
          </a:prstGeom>
          <a:noFill/>
          <a:ln/>
        </p:spPr>
        <p:txBody>
          <a:bodyPr wrap="square" rtlCol="0" anchor="ctr"/>
          <a:lstStyle/>
          <a:p>
            <a:pPr marL="0" indent="0">
              <a:buNone/>
            </a:pPr>
            <a:r>
              <a:rPr lang="en-US" sz="850" dirty="0">
                <a:solidFill>
                  <a:srgbClr val="4A5568"/>
                </a:solidFill>
              </a:rPr>
              <a:t>Clients can book a service by selecting a preferred date, time, and providing their address. The system stores and manages all bookings.</a:t>
            </a:r>
            <a:endParaRPr lang="en-US" sz="850" dirty="0"/>
          </a:p>
        </p:txBody>
      </p:sp>
      <p:sp>
        <p:nvSpPr>
          <p:cNvPr id="13" name="Shape 11"/>
          <p:cNvSpPr/>
          <p:nvPr/>
        </p:nvSpPr>
        <p:spPr>
          <a:xfrm>
            <a:off x="274320" y="1965960"/>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14" name="Shape 12"/>
          <p:cNvSpPr/>
          <p:nvPr/>
        </p:nvSpPr>
        <p:spPr>
          <a:xfrm>
            <a:off x="274320" y="1965960"/>
            <a:ext cx="64008" cy="768096"/>
          </a:xfrm>
          <a:prstGeom prst="rect">
            <a:avLst/>
          </a:prstGeom>
          <a:solidFill>
            <a:srgbClr val="F4A261"/>
          </a:solidFill>
          <a:ln w="12700">
            <a:solidFill>
              <a:srgbClr val="F4A261"/>
            </a:solidFill>
            <a:prstDash val="solid"/>
          </a:ln>
        </p:spPr>
      </p:sp>
      <p:sp>
        <p:nvSpPr>
          <p:cNvPr id="15" name="Text 13"/>
          <p:cNvSpPr/>
          <p:nvPr/>
        </p:nvSpPr>
        <p:spPr>
          <a:xfrm>
            <a:off x="438912" y="2011680"/>
            <a:ext cx="3977640" cy="256032"/>
          </a:xfrm>
          <a:prstGeom prst="rect">
            <a:avLst/>
          </a:prstGeom>
          <a:noFill/>
          <a:ln/>
        </p:spPr>
        <p:txBody>
          <a:bodyPr wrap="square" rtlCol="0" anchor="ctr"/>
          <a:lstStyle/>
          <a:p>
            <a:pPr marL="0" indent="0">
              <a:buNone/>
            </a:pPr>
            <a:r>
              <a:rPr lang="en-US" sz="1000" b="1" dirty="0">
                <a:solidFill>
                  <a:srgbClr val="1B2A4A"/>
                </a:solidFill>
              </a:rPr>
              <a:t>Secure Login &amp; Registration</a:t>
            </a:r>
            <a:endParaRPr lang="en-US" sz="1000" dirty="0"/>
          </a:p>
        </p:txBody>
      </p:sp>
      <p:sp>
        <p:nvSpPr>
          <p:cNvPr id="16" name="Text 14"/>
          <p:cNvSpPr/>
          <p:nvPr/>
        </p:nvSpPr>
        <p:spPr>
          <a:xfrm>
            <a:off x="438912" y="2276856"/>
            <a:ext cx="3977640" cy="402336"/>
          </a:xfrm>
          <a:prstGeom prst="rect">
            <a:avLst/>
          </a:prstGeom>
          <a:noFill/>
          <a:ln/>
        </p:spPr>
        <p:txBody>
          <a:bodyPr wrap="square" rtlCol="0" anchor="ctr"/>
          <a:lstStyle/>
          <a:p>
            <a:pPr marL="0" indent="0">
              <a:buNone/>
            </a:pPr>
            <a:r>
              <a:rPr lang="en-US" sz="850" dirty="0">
                <a:solidFill>
                  <a:srgbClr val="4A5568"/>
                </a:solidFill>
              </a:rPr>
              <a:t>Both clients and providers can create accounts. Passwords are encrypted and each user gets a secure login session using tokens.</a:t>
            </a:r>
            <a:endParaRPr lang="en-US" sz="850" dirty="0"/>
          </a:p>
        </p:txBody>
      </p:sp>
      <p:sp>
        <p:nvSpPr>
          <p:cNvPr id="17" name="Shape 15"/>
          <p:cNvSpPr/>
          <p:nvPr/>
        </p:nvSpPr>
        <p:spPr>
          <a:xfrm>
            <a:off x="4709160" y="1965960"/>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18" name="Shape 16"/>
          <p:cNvSpPr/>
          <p:nvPr/>
        </p:nvSpPr>
        <p:spPr>
          <a:xfrm>
            <a:off x="4709160" y="1965960"/>
            <a:ext cx="64008" cy="768096"/>
          </a:xfrm>
          <a:prstGeom prst="rect">
            <a:avLst/>
          </a:prstGeom>
          <a:solidFill>
            <a:srgbClr val="6C5CE7"/>
          </a:solidFill>
          <a:ln w="12700">
            <a:solidFill>
              <a:srgbClr val="6C5CE7"/>
            </a:solidFill>
            <a:prstDash val="solid"/>
          </a:ln>
        </p:spPr>
      </p:sp>
      <p:sp>
        <p:nvSpPr>
          <p:cNvPr id="19" name="Text 17"/>
          <p:cNvSpPr/>
          <p:nvPr/>
        </p:nvSpPr>
        <p:spPr>
          <a:xfrm>
            <a:off x="4873752" y="2011680"/>
            <a:ext cx="3977640" cy="256032"/>
          </a:xfrm>
          <a:prstGeom prst="rect">
            <a:avLst/>
          </a:prstGeom>
          <a:noFill/>
          <a:ln/>
        </p:spPr>
        <p:txBody>
          <a:bodyPr wrap="square" rtlCol="0" anchor="ctr"/>
          <a:lstStyle/>
          <a:p>
            <a:pPr marL="0" indent="0">
              <a:buNone/>
            </a:pPr>
            <a:r>
              <a:rPr lang="en-US" sz="1000" b="1" dirty="0">
                <a:solidFill>
                  <a:srgbClr val="1B2A4A"/>
                </a:solidFill>
              </a:rPr>
              <a:t>Provider Dashboard</a:t>
            </a:r>
            <a:endParaRPr lang="en-US" sz="1000" dirty="0"/>
          </a:p>
        </p:txBody>
      </p:sp>
      <p:sp>
        <p:nvSpPr>
          <p:cNvPr id="20" name="Text 18"/>
          <p:cNvSpPr/>
          <p:nvPr/>
        </p:nvSpPr>
        <p:spPr>
          <a:xfrm>
            <a:off x="4873752" y="2276856"/>
            <a:ext cx="3977640" cy="402336"/>
          </a:xfrm>
          <a:prstGeom prst="rect">
            <a:avLst/>
          </a:prstGeom>
          <a:noFill/>
          <a:ln/>
        </p:spPr>
        <p:txBody>
          <a:bodyPr wrap="square" rtlCol="0" anchor="ctr"/>
          <a:lstStyle/>
          <a:p>
            <a:pPr marL="0" indent="0">
              <a:buNone/>
            </a:pPr>
            <a:r>
              <a:rPr lang="en-US" sz="850" dirty="0">
                <a:solidFill>
                  <a:srgbClr val="4A5568"/>
                </a:solidFill>
              </a:rPr>
              <a:t>Service providers get a personal dashboard where they can add new services, update existing ones, and manage all booking requests they receive.</a:t>
            </a:r>
            <a:endParaRPr lang="en-US" sz="850" dirty="0"/>
          </a:p>
        </p:txBody>
      </p:sp>
      <p:sp>
        <p:nvSpPr>
          <p:cNvPr id="21" name="Shape 19"/>
          <p:cNvSpPr/>
          <p:nvPr/>
        </p:nvSpPr>
        <p:spPr>
          <a:xfrm>
            <a:off x="274320" y="2852928"/>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22" name="Shape 20"/>
          <p:cNvSpPr/>
          <p:nvPr/>
        </p:nvSpPr>
        <p:spPr>
          <a:xfrm>
            <a:off x="274320" y="2852928"/>
            <a:ext cx="64008" cy="768096"/>
          </a:xfrm>
          <a:prstGeom prst="rect">
            <a:avLst/>
          </a:prstGeom>
          <a:solidFill>
            <a:srgbClr val="000000"/>
          </a:solidFill>
          <a:ln w="12700">
            <a:solidFill>
              <a:srgbClr val="333333"/>
            </a:solidFill>
            <a:prstDash val="solid"/>
          </a:ln>
        </p:spPr>
      </p:sp>
      <p:sp>
        <p:nvSpPr>
          <p:cNvPr id="23" name="Text 21"/>
          <p:cNvSpPr/>
          <p:nvPr/>
        </p:nvSpPr>
        <p:spPr>
          <a:xfrm>
            <a:off x="438912" y="2898648"/>
            <a:ext cx="3977640" cy="256032"/>
          </a:xfrm>
          <a:prstGeom prst="rect">
            <a:avLst/>
          </a:prstGeom>
          <a:noFill/>
          <a:ln/>
        </p:spPr>
        <p:txBody>
          <a:bodyPr wrap="square" rtlCol="0" anchor="ctr"/>
          <a:lstStyle/>
          <a:p>
            <a:pPr marL="0" indent="0">
              <a:buNone/>
            </a:pPr>
            <a:r>
              <a:rPr lang="en-US" sz="1000" b="1" dirty="0">
                <a:solidFill>
                  <a:srgbClr val="1B2A4A"/>
                </a:solidFill>
              </a:rPr>
              <a:t>Client Dashboard</a:t>
            </a:r>
            <a:endParaRPr lang="en-US" sz="1000" dirty="0"/>
          </a:p>
        </p:txBody>
      </p:sp>
      <p:sp>
        <p:nvSpPr>
          <p:cNvPr id="24" name="Text 22"/>
          <p:cNvSpPr/>
          <p:nvPr/>
        </p:nvSpPr>
        <p:spPr>
          <a:xfrm>
            <a:off x="438912" y="3163824"/>
            <a:ext cx="3977640" cy="402336"/>
          </a:xfrm>
          <a:prstGeom prst="rect">
            <a:avLst/>
          </a:prstGeom>
          <a:noFill/>
          <a:ln/>
        </p:spPr>
        <p:txBody>
          <a:bodyPr wrap="square" rtlCol="0" anchor="ctr"/>
          <a:lstStyle/>
          <a:p>
            <a:pPr marL="0" indent="0">
              <a:buNone/>
            </a:pPr>
            <a:r>
              <a:rPr lang="en-US" sz="850" dirty="0">
                <a:solidFill>
                  <a:srgbClr val="4A5568"/>
                </a:solidFill>
              </a:rPr>
              <a:t>Clients have a separate dashboard to view all their bookings, check current status (pending, accepted, completed), and cancel if required.</a:t>
            </a:r>
            <a:endParaRPr lang="en-US" sz="850" dirty="0"/>
          </a:p>
        </p:txBody>
      </p:sp>
      <p:sp>
        <p:nvSpPr>
          <p:cNvPr id="25" name="Shape 23"/>
          <p:cNvSpPr/>
          <p:nvPr/>
        </p:nvSpPr>
        <p:spPr>
          <a:xfrm>
            <a:off x="4709160" y="2852928"/>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26" name="Shape 24"/>
          <p:cNvSpPr/>
          <p:nvPr/>
        </p:nvSpPr>
        <p:spPr>
          <a:xfrm>
            <a:off x="4709160" y="2852928"/>
            <a:ext cx="64008" cy="768096"/>
          </a:xfrm>
          <a:prstGeom prst="rect">
            <a:avLst/>
          </a:prstGeom>
          <a:solidFill>
            <a:srgbClr val="E05C41"/>
          </a:solidFill>
          <a:ln w="12700">
            <a:solidFill>
              <a:srgbClr val="E05C41"/>
            </a:solidFill>
            <a:prstDash val="solid"/>
          </a:ln>
        </p:spPr>
      </p:sp>
      <p:sp>
        <p:nvSpPr>
          <p:cNvPr id="27" name="Text 25"/>
          <p:cNvSpPr/>
          <p:nvPr/>
        </p:nvSpPr>
        <p:spPr>
          <a:xfrm>
            <a:off x="4873752" y="2898648"/>
            <a:ext cx="3977640" cy="256032"/>
          </a:xfrm>
          <a:prstGeom prst="rect">
            <a:avLst/>
          </a:prstGeom>
          <a:noFill/>
          <a:ln/>
        </p:spPr>
        <p:txBody>
          <a:bodyPr wrap="square" rtlCol="0" anchor="ctr"/>
          <a:lstStyle/>
          <a:p>
            <a:pPr marL="0" indent="0">
              <a:buNone/>
            </a:pPr>
            <a:r>
              <a:rPr lang="en-US" sz="1000" b="1" dirty="0">
                <a:solidFill>
                  <a:srgbClr val="1B2A4A"/>
                </a:solidFill>
              </a:rPr>
              <a:t>Image Upload for Services</a:t>
            </a:r>
            <a:endParaRPr lang="en-US" sz="1000" dirty="0"/>
          </a:p>
        </p:txBody>
      </p:sp>
      <p:sp>
        <p:nvSpPr>
          <p:cNvPr id="28" name="Text 26"/>
          <p:cNvSpPr/>
          <p:nvPr/>
        </p:nvSpPr>
        <p:spPr>
          <a:xfrm>
            <a:off x="4873752" y="3163824"/>
            <a:ext cx="3977640" cy="402336"/>
          </a:xfrm>
          <a:prstGeom prst="rect">
            <a:avLst/>
          </a:prstGeom>
          <a:noFill/>
          <a:ln/>
        </p:spPr>
        <p:txBody>
          <a:bodyPr wrap="square" rtlCol="0" anchor="ctr"/>
          <a:lstStyle/>
          <a:p>
            <a:pPr marL="0" indent="0">
              <a:buNone/>
            </a:pPr>
            <a:r>
              <a:rPr lang="en-US" sz="850" dirty="0">
                <a:solidFill>
                  <a:srgbClr val="4A5568"/>
                </a:solidFill>
              </a:rPr>
              <a:t>Providers can upload photos for their service listings. Images are stored securely using cloud storage for fast and reliable access.</a:t>
            </a:r>
            <a:endParaRPr lang="en-US" sz="850" dirty="0"/>
          </a:p>
        </p:txBody>
      </p:sp>
      <p:sp>
        <p:nvSpPr>
          <p:cNvPr id="29" name="Shape 27"/>
          <p:cNvSpPr/>
          <p:nvPr/>
        </p:nvSpPr>
        <p:spPr>
          <a:xfrm>
            <a:off x="274320" y="3739896"/>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30" name="Shape 28"/>
          <p:cNvSpPr/>
          <p:nvPr/>
        </p:nvSpPr>
        <p:spPr>
          <a:xfrm>
            <a:off x="274320" y="3739896"/>
            <a:ext cx="64008" cy="768096"/>
          </a:xfrm>
          <a:prstGeom prst="rect">
            <a:avLst/>
          </a:prstGeom>
          <a:solidFill>
            <a:srgbClr val="38B2AC"/>
          </a:solidFill>
          <a:ln w="12700">
            <a:solidFill>
              <a:srgbClr val="38B2AC"/>
            </a:solidFill>
            <a:prstDash val="solid"/>
          </a:ln>
        </p:spPr>
      </p:sp>
      <p:sp>
        <p:nvSpPr>
          <p:cNvPr id="31" name="Text 29"/>
          <p:cNvSpPr/>
          <p:nvPr/>
        </p:nvSpPr>
        <p:spPr>
          <a:xfrm>
            <a:off x="438912" y="3785616"/>
            <a:ext cx="3977640" cy="256032"/>
          </a:xfrm>
          <a:prstGeom prst="rect">
            <a:avLst/>
          </a:prstGeom>
          <a:noFill/>
          <a:ln/>
        </p:spPr>
        <p:txBody>
          <a:bodyPr wrap="square" rtlCol="0" anchor="ctr"/>
          <a:lstStyle/>
          <a:p>
            <a:pPr marL="0" indent="0">
              <a:buNone/>
            </a:pPr>
            <a:r>
              <a:rPr lang="en-US" sz="1000" b="1" dirty="0">
                <a:solidFill>
                  <a:srgbClr val="1B2A4A"/>
                </a:solidFill>
              </a:rPr>
              <a:t>Ratings &amp; Reviews</a:t>
            </a:r>
            <a:endParaRPr lang="en-US" sz="1000" dirty="0"/>
          </a:p>
        </p:txBody>
      </p:sp>
      <p:sp>
        <p:nvSpPr>
          <p:cNvPr id="32" name="Text 30"/>
          <p:cNvSpPr/>
          <p:nvPr/>
        </p:nvSpPr>
        <p:spPr>
          <a:xfrm>
            <a:off x="438912" y="4050792"/>
            <a:ext cx="3977640" cy="402336"/>
          </a:xfrm>
          <a:prstGeom prst="rect">
            <a:avLst/>
          </a:prstGeom>
          <a:noFill/>
          <a:ln/>
        </p:spPr>
        <p:txBody>
          <a:bodyPr wrap="square" rtlCol="0" anchor="ctr"/>
          <a:lstStyle/>
          <a:p>
            <a:pPr marL="0" indent="0">
              <a:buNone/>
            </a:pPr>
            <a:r>
              <a:rPr lang="en-US" sz="850" dirty="0">
                <a:solidFill>
                  <a:srgbClr val="4A5568"/>
                </a:solidFill>
              </a:rPr>
              <a:t>Each service listing shows a rating score and the number of reviews it has received, helping clients make informed decisions.</a:t>
            </a:r>
            <a:endParaRPr lang="en-US" sz="850" dirty="0"/>
          </a:p>
        </p:txBody>
      </p:sp>
      <p:sp>
        <p:nvSpPr>
          <p:cNvPr id="33" name="Shape 31"/>
          <p:cNvSpPr/>
          <p:nvPr/>
        </p:nvSpPr>
        <p:spPr>
          <a:xfrm>
            <a:off x="4709160" y="3739896"/>
            <a:ext cx="4251960" cy="768096"/>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34" name="Shape 32"/>
          <p:cNvSpPr/>
          <p:nvPr/>
        </p:nvSpPr>
        <p:spPr>
          <a:xfrm>
            <a:off x="4709160" y="3739896"/>
            <a:ext cx="64008" cy="768096"/>
          </a:xfrm>
          <a:prstGeom prst="rect">
            <a:avLst/>
          </a:prstGeom>
          <a:solidFill>
            <a:srgbClr val="F4A261"/>
          </a:solidFill>
          <a:ln w="12700">
            <a:solidFill>
              <a:srgbClr val="F4A261"/>
            </a:solidFill>
            <a:prstDash val="solid"/>
          </a:ln>
        </p:spPr>
      </p:sp>
      <p:sp>
        <p:nvSpPr>
          <p:cNvPr id="35" name="Text 33"/>
          <p:cNvSpPr/>
          <p:nvPr/>
        </p:nvSpPr>
        <p:spPr>
          <a:xfrm>
            <a:off x="4873752" y="3785616"/>
            <a:ext cx="3977640" cy="256032"/>
          </a:xfrm>
          <a:prstGeom prst="rect">
            <a:avLst/>
          </a:prstGeom>
          <a:noFill/>
          <a:ln/>
        </p:spPr>
        <p:txBody>
          <a:bodyPr wrap="square" rtlCol="0" anchor="ctr"/>
          <a:lstStyle/>
          <a:p>
            <a:pPr marL="0" indent="0">
              <a:buNone/>
            </a:pPr>
            <a:r>
              <a:rPr lang="en-US" sz="1000" b="1" dirty="0">
                <a:solidFill>
                  <a:srgbClr val="1B2A4A"/>
                </a:solidFill>
              </a:rPr>
              <a:t>Mobile-Friendly Design</a:t>
            </a:r>
            <a:endParaRPr lang="en-US" sz="1000" dirty="0"/>
          </a:p>
        </p:txBody>
      </p:sp>
      <p:sp>
        <p:nvSpPr>
          <p:cNvPr id="36" name="Text 34"/>
          <p:cNvSpPr/>
          <p:nvPr/>
        </p:nvSpPr>
        <p:spPr>
          <a:xfrm>
            <a:off x="4873752" y="4050792"/>
            <a:ext cx="3977640" cy="402336"/>
          </a:xfrm>
          <a:prstGeom prst="rect">
            <a:avLst/>
          </a:prstGeom>
          <a:noFill/>
          <a:ln/>
        </p:spPr>
        <p:txBody>
          <a:bodyPr wrap="square" rtlCol="0" anchor="ctr"/>
          <a:lstStyle/>
          <a:p>
            <a:pPr marL="0" indent="0">
              <a:buNone/>
            </a:pPr>
            <a:r>
              <a:rPr lang="en-US" sz="850" dirty="0">
                <a:solidFill>
                  <a:srgbClr val="4A5568"/>
                </a:solidFill>
              </a:rPr>
              <a:t>The entire application is designed to work smoothly on both desktop computers and mobile phones without any loss of functionality.</a:t>
            </a:r>
            <a:endParaRPr lang="en-US" sz="850" dirty="0"/>
          </a:p>
        </p:txBody>
      </p:sp>
      <p:sp>
        <p:nvSpPr>
          <p:cNvPr id="37" name="Shape 35"/>
          <p:cNvSpPr/>
          <p:nvPr/>
        </p:nvSpPr>
        <p:spPr>
          <a:xfrm>
            <a:off x="274320" y="4645152"/>
            <a:ext cx="4251960" cy="365760"/>
          </a:xfrm>
          <a:prstGeom prst="rect">
            <a:avLst/>
          </a:prstGeom>
          <a:solidFill>
            <a:srgbClr val="E05C41"/>
          </a:solidFill>
          <a:ln w="12700">
            <a:solidFill>
              <a:srgbClr val="E05C41"/>
            </a:solidFill>
            <a:prstDash val="solid"/>
          </a:ln>
        </p:spPr>
      </p:sp>
      <p:sp>
        <p:nvSpPr>
          <p:cNvPr id="38" name="Text 36"/>
          <p:cNvSpPr/>
          <p:nvPr/>
        </p:nvSpPr>
        <p:spPr>
          <a:xfrm>
            <a:off x="274320" y="4645152"/>
            <a:ext cx="4251960" cy="365760"/>
          </a:xfrm>
          <a:prstGeom prst="rect">
            <a:avLst/>
          </a:prstGeom>
          <a:noFill/>
          <a:ln/>
        </p:spPr>
        <p:txBody>
          <a:bodyPr wrap="square" rtlCol="0" anchor="ctr"/>
          <a:lstStyle/>
          <a:p>
            <a:pPr marL="0" indent="0" algn="ctr">
              <a:buNone/>
            </a:pPr>
            <a:r>
              <a:rPr lang="en-US" sz="1050" b="1" dirty="0">
                <a:solidFill>
                  <a:srgbClr val="FFFFFF"/>
                </a:solidFill>
              </a:rPr>
              <a:t>User Roles:   Client  |  Service Provider</a:t>
            </a:r>
            <a:endParaRPr lang="en-US" sz="1050" dirty="0"/>
          </a:p>
        </p:txBody>
      </p:sp>
      <p:sp>
        <p:nvSpPr>
          <p:cNvPr id="39" name="Shape 37"/>
          <p:cNvSpPr/>
          <p:nvPr/>
        </p:nvSpPr>
        <p:spPr>
          <a:xfrm>
            <a:off x="4709160" y="4645152"/>
            <a:ext cx="4160520" cy="365760"/>
          </a:xfrm>
          <a:prstGeom prst="rect">
            <a:avLst/>
          </a:prstGeom>
          <a:solidFill>
            <a:srgbClr val="0D1E36"/>
          </a:solidFill>
          <a:ln w="12700">
            <a:solidFill>
              <a:srgbClr val="1B2A4A"/>
            </a:solidFill>
            <a:prstDash val="solid"/>
          </a:ln>
        </p:spPr>
      </p:sp>
      <p:sp>
        <p:nvSpPr>
          <p:cNvPr id="40" name="Text 38"/>
          <p:cNvSpPr/>
          <p:nvPr/>
        </p:nvSpPr>
        <p:spPr>
          <a:xfrm>
            <a:off x="4709160" y="4645152"/>
            <a:ext cx="4160520" cy="365760"/>
          </a:xfrm>
          <a:prstGeom prst="rect">
            <a:avLst/>
          </a:prstGeom>
          <a:noFill/>
          <a:ln/>
        </p:spPr>
        <p:txBody>
          <a:bodyPr wrap="square" rtlCol="0" anchor="ctr"/>
          <a:lstStyle/>
          <a:p>
            <a:pPr marL="0" indent="0" algn="ctr">
              <a:buNone/>
            </a:pPr>
            <a:r>
              <a:rPr lang="en-US" sz="900" dirty="0">
                <a:solidFill>
                  <a:srgbClr val="8FAEC5"/>
                </a:solidFill>
              </a:rPr>
              <a:t>Limitations:   No payment gateway  |  No live chat  |  No admin panel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38B2AC"/>
          </a:solidFill>
          <a:ln w="12700">
            <a:solidFill>
              <a:srgbClr val="38B2AC"/>
            </a:solidFill>
            <a:prstDash val="solid"/>
          </a:ln>
        </p:spPr>
      </p:sp>
      <p:sp>
        <p:nvSpPr>
          <p:cNvPr id="3" name="Text 1"/>
          <p:cNvSpPr/>
          <p:nvPr/>
        </p:nvSpPr>
        <p:spPr>
          <a:xfrm>
            <a:off x="457200" y="73152"/>
            <a:ext cx="7315200" cy="347472"/>
          </a:xfrm>
          <a:prstGeom prst="rect">
            <a:avLst/>
          </a:prstGeom>
          <a:noFill/>
          <a:ln/>
        </p:spPr>
        <p:txBody>
          <a:bodyPr wrap="square" rtlCol="0" anchor="ctr"/>
          <a:lstStyle/>
          <a:p>
            <a:pPr marL="0" indent="0">
              <a:buNone/>
            </a:pPr>
            <a:r>
              <a:rPr lang="en-US" sz="900" b="1" kern="0" spc="200" dirty="0">
                <a:solidFill>
                  <a:srgbClr val="1B2A4A"/>
                </a:solidFill>
              </a:rPr>
              <a:t>05  /  Software Development Methodology</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2100" b="1" dirty="0">
                <a:solidFill>
                  <a:srgbClr val="FFFFFF"/>
                </a:solidFill>
              </a:rPr>
              <a:t>Agile Model — Step-by-Step Iterative Development</a:t>
            </a:r>
            <a:endParaRPr lang="en-US" sz="2100" dirty="0"/>
          </a:p>
        </p:txBody>
      </p:sp>
      <p:sp>
        <p:nvSpPr>
          <p:cNvPr id="5" name="Shape 3"/>
          <p:cNvSpPr/>
          <p:nvPr/>
        </p:nvSpPr>
        <p:spPr>
          <a:xfrm>
            <a:off x="274320" y="1078992"/>
            <a:ext cx="8595360" cy="749808"/>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6" name="Shape 4"/>
          <p:cNvSpPr/>
          <p:nvPr/>
        </p:nvSpPr>
        <p:spPr>
          <a:xfrm>
            <a:off x="274320" y="1078992"/>
            <a:ext cx="1463040" cy="749808"/>
          </a:xfrm>
          <a:prstGeom prst="rect">
            <a:avLst/>
          </a:prstGeom>
          <a:solidFill>
            <a:srgbClr val="1B2A4A"/>
          </a:solidFill>
          <a:ln w="12700">
            <a:solidFill>
              <a:srgbClr val="1B2A4A"/>
            </a:solidFill>
            <a:prstDash val="solid"/>
          </a:ln>
        </p:spPr>
      </p:sp>
      <p:sp>
        <p:nvSpPr>
          <p:cNvPr id="7" name="Text 5"/>
          <p:cNvSpPr/>
          <p:nvPr/>
        </p:nvSpPr>
        <p:spPr>
          <a:xfrm>
            <a:off x="274320" y="1078992"/>
            <a:ext cx="1463040" cy="749808"/>
          </a:xfrm>
          <a:prstGeom prst="rect">
            <a:avLst/>
          </a:prstGeom>
          <a:noFill/>
          <a:ln/>
        </p:spPr>
        <p:txBody>
          <a:bodyPr wrap="square" rtlCol="0" anchor="ctr"/>
          <a:lstStyle/>
          <a:p>
            <a:pPr marL="0" indent="0" algn="ctr">
              <a:buNone/>
            </a:pPr>
            <a:r>
              <a:rPr lang="en-US" sz="1200" b="1" kern="0" spc="100" dirty="0">
                <a:solidFill>
                  <a:srgbClr val="F4A261"/>
                </a:solidFill>
              </a:rPr>
              <a:t>AGILE</a:t>
            </a:r>
            <a:endParaRPr lang="en-US" sz="1200" dirty="0"/>
          </a:p>
          <a:p>
            <a:pPr marL="0" indent="0" algn="ctr">
              <a:buNone/>
            </a:pPr>
            <a:r>
              <a:rPr lang="en-US" sz="1200" b="1" kern="0" spc="100" dirty="0">
                <a:solidFill>
                  <a:srgbClr val="F4A261"/>
                </a:solidFill>
              </a:rPr>
              <a:t>MODEL</a:t>
            </a:r>
            <a:endParaRPr lang="en-US" sz="1200" dirty="0"/>
          </a:p>
        </p:txBody>
      </p:sp>
      <p:sp>
        <p:nvSpPr>
          <p:cNvPr id="8" name="Text 6"/>
          <p:cNvSpPr/>
          <p:nvPr/>
        </p:nvSpPr>
        <p:spPr>
          <a:xfrm>
            <a:off x="1920240" y="1115568"/>
            <a:ext cx="6766560" cy="676656"/>
          </a:xfrm>
          <a:prstGeom prst="rect">
            <a:avLst/>
          </a:prstGeom>
          <a:noFill/>
          <a:ln/>
        </p:spPr>
        <p:txBody>
          <a:bodyPr wrap="square" rtlCol="0" anchor="ctr"/>
          <a:lstStyle/>
          <a:p>
            <a:pPr marL="0" indent="0">
              <a:buNone/>
            </a:pPr>
            <a:r>
              <a:rPr lang="en-US" sz="1000" dirty="0">
                <a:solidFill>
                  <a:srgbClr val="4A5568"/>
                </a:solidFill>
              </a:rPr>
              <a:t>For this project, the Agile methodology was used because it allows development to happen in small, manageable steps rather than trying to build everything at once. After each phase, the work was reviewed and improved before moving forward. This approach made it easier to fix mistakes early, adapt to new ideas, and ensure that the final product met the actual requirements.</a:t>
            </a:r>
            <a:endParaRPr lang="en-US" sz="1000" dirty="0"/>
          </a:p>
        </p:txBody>
      </p:sp>
      <p:sp>
        <p:nvSpPr>
          <p:cNvPr id="9" name="Shape 7"/>
          <p:cNvSpPr/>
          <p:nvPr/>
        </p:nvSpPr>
        <p:spPr>
          <a:xfrm>
            <a:off x="274320" y="1965960"/>
            <a:ext cx="1600200" cy="2971800"/>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10" name="Shape 8"/>
          <p:cNvSpPr/>
          <p:nvPr/>
        </p:nvSpPr>
        <p:spPr>
          <a:xfrm>
            <a:off x="274320" y="1965960"/>
            <a:ext cx="1600200" cy="502920"/>
          </a:xfrm>
          <a:prstGeom prst="rect">
            <a:avLst/>
          </a:prstGeom>
          <a:solidFill>
            <a:srgbClr val="E05C41"/>
          </a:solidFill>
          <a:ln w="12700">
            <a:solidFill>
              <a:srgbClr val="E05C41"/>
            </a:solidFill>
            <a:prstDash val="solid"/>
          </a:ln>
        </p:spPr>
      </p:sp>
      <p:sp>
        <p:nvSpPr>
          <p:cNvPr id="11" name="Text 9"/>
          <p:cNvSpPr/>
          <p:nvPr/>
        </p:nvSpPr>
        <p:spPr>
          <a:xfrm>
            <a:off x="274320" y="1965960"/>
            <a:ext cx="384048" cy="502920"/>
          </a:xfrm>
          <a:prstGeom prst="rect">
            <a:avLst/>
          </a:prstGeom>
          <a:noFill/>
          <a:ln/>
        </p:spPr>
        <p:txBody>
          <a:bodyPr wrap="square" rtlCol="0" anchor="ctr"/>
          <a:lstStyle/>
          <a:p>
            <a:pPr marL="0" indent="0" algn="ctr">
              <a:buNone/>
            </a:pPr>
            <a:r>
              <a:rPr lang="en-US" sz="1100" b="1" dirty="0">
                <a:solidFill>
                  <a:srgbClr val="FFFFFF"/>
                </a:solidFill>
              </a:rPr>
              <a:t>01</a:t>
            </a:r>
            <a:endParaRPr lang="en-US" sz="1100" dirty="0"/>
          </a:p>
        </p:txBody>
      </p:sp>
      <p:sp>
        <p:nvSpPr>
          <p:cNvPr id="12" name="Text 10"/>
          <p:cNvSpPr/>
          <p:nvPr/>
        </p:nvSpPr>
        <p:spPr>
          <a:xfrm>
            <a:off x="658368" y="1965960"/>
            <a:ext cx="1143000" cy="502920"/>
          </a:xfrm>
          <a:prstGeom prst="rect">
            <a:avLst/>
          </a:prstGeom>
          <a:noFill/>
          <a:ln/>
        </p:spPr>
        <p:txBody>
          <a:bodyPr wrap="square" rtlCol="0" anchor="ctr"/>
          <a:lstStyle/>
          <a:p>
            <a:pPr marL="0" indent="0" algn="l">
              <a:buNone/>
            </a:pPr>
            <a:r>
              <a:rPr lang="en-US" sz="1100" b="1" dirty="0">
                <a:solidFill>
                  <a:srgbClr val="FFFFFF"/>
                </a:solidFill>
              </a:rPr>
              <a:t>Planning</a:t>
            </a:r>
            <a:endParaRPr lang="en-US" sz="1100" dirty="0"/>
          </a:p>
        </p:txBody>
      </p:sp>
      <p:sp>
        <p:nvSpPr>
          <p:cNvPr id="13" name="Text 11"/>
          <p:cNvSpPr/>
          <p:nvPr/>
        </p:nvSpPr>
        <p:spPr>
          <a:xfrm>
            <a:off x="365760" y="2532888"/>
            <a:ext cx="1417320" cy="2331720"/>
          </a:xfrm>
          <a:prstGeom prst="rect">
            <a:avLst/>
          </a:prstGeom>
          <a:noFill/>
          <a:ln/>
        </p:spPr>
        <p:txBody>
          <a:bodyPr wrap="square" rtlCol="0" anchor="t"/>
          <a:lstStyle/>
          <a:p>
            <a:pPr marL="0" indent="0">
              <a:spcAft>
                <a:spcPts val="300"/>
              </a:spcAft>
              <a:buNone/>
            </a:pPr>
            <a:r>
              <a:rPr lang="en-US" sz="950" dirty="0">
                <a:solidFill>
                  <a:srgbClr val="4A5568"/>
                </a:solidFill>
              </a:rPr>
              <a:t>Understanding what the application needs to do. Identifying users, features, and setting a timeline for the entire project.</a:t>
            </a:r>
            <a:endParaRPr lang="en-US" sz="950" dirty="0"/>
          </a:p>
        </p:txBody>
      </p:sp>
      <p:sp>
        <p:nvSpPr>
          <p:cNvPr id="14" name="Shape 12"/>
          <p:cNvSpPr/>
          <p:nvPr/>
        </p:nvSpPr>
        <p:spPr>
          <a:xfrm>
            <a:off x="2011680" y="1965960"/>
            <a:ext cx="1600200" cy="2971800"/>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15" name="Shape 13"/>
          <p:cNvSpPr/>
          <p:nvPr/>
        </p:nvSpPr>
        <p:spPr>
          <a:xfrm>
            <a:off x="2011680" y="1965960"/>
            <a:ext cx="1600200" cy="502920"/>
          </a:xfrm>
          <a:prstGeom prst="rect">
            <a:avLst/>
          </a:prstGeom>
          <a:solidFill>
            <a:srgbClr val="F4A261"/>
          </a:solidFill>
          <a:ln w="12700">
            <a:solidFill>
              <a:srgbClr val="F4A261"/>
            </a:solidFill>
            <a:prstDash val="solid"/>
          </a:ln>
        </p:spPr>
      </p:sp>
      <p:sp>
        <p:nvSpPr>
          <p:cNvPr id="16" name="Text 14"/>
          <p:cNvSpPr/>
          <p:nvPr/>
        </p:nvSpPr>
        <p:spPr>
          <a:xfrm>
            <a:off x="2011680" y="1965960"/>
            <a:ext cx="384048" cy="502920"/>
          </a:xfrm>
          <a:prstGeom prst="rect">
            <a:avLst/>
          </a:prstGeom>
          <a:noFill/>
          <a:ln/>
        </p:spPr>
        <p:txBody>
          <a:bodyPr wrap="square" rtlCol="0" anchor="ctr"/>
          <a:lstStyle/>
          <a:p>
            <a:pPr marL="0" indent="0" algn="ctr">
              <a:buNone/>
            </a:pPr>
            <a:r>
              <a:rPr lang="en-US" sz="1100" b="1" dirty="0">
                <a:solidFill>
                  <a:srgbClr val="FFFFFF"/>
                </a:solidFill>
              </a:rPr>
              <a:t>02</a:t>
            </a:r>
            <a:endParaRPr lang="en-US" sz="1100" dirty="0"/>
          </a:p>
        </p:txBody>
      </p:sp>
      <p:sp>
        <p:nvSpPr>
          <p:cNvPr id="17" name="Text 15"/>
          <p:cNvSpPr/>
          <p:nvPr/>
        </p:nvSpPr>
        <p:spPr>
          <a:xfrm>
            <a:off x="2395728" y="1965960"/>
            <a:ext cx="1143000" cy="502920"/>
          </a:xfrm>
          <a:prstGeom prst="rect">
            <a:avLst/>
          </a:prstGeom>
          <a:noFill/>
          <a:ln/>
        </p:spPr>
        <p:txBody>
          <a:bodyPr wrap="square" rtlCol="0" anchor="ctr"/>
          <a:lstStyle/>
          <a:p>
            <a:pPr marL="0" indent="0" algn="l">
              <a:buNone/>
            </a:pPr>
            <a:r>
              <a:rPr lang="en-US" sz="1100" b="1" dirty="0">
                <a:solidFill>
                  <a:srgbClr val="FFFFFF"/>
                </a:solidFill>
              </a:rPr>
              <a:t>Design</a:t>
            </a:r>
            <a:endParaRPr lang="en-US" sz="1100" dirty="0"/>
          </a:p>
        </p:txBody>
      </p:sp>
      <p:sp>
        <p:nvSpPr>
          <p:cNvPr id="18" name="Text 16"/>
          <p:cNvSpPr/>
          <p:nvPr/>
        </p:nvSpPr>
        <p:spPr>
          <a:xfrm>
            <a:off x="2103120" y="2532888"/>
            <a:ext cx="1417320" cy="2331720"/>
          </a:xfrm>
          <a:prstGeom prst="rect">
            <a:avLst/>
          </a:prstGeom>
          <a:noFill/>
          <a:ln/>
        </p:spPr>
        <p:txBody>
          <a:bodyPr wrap="square" rtlCol="0" anchor="t"/>
          <a:lstStyle/>
          <a:p>
            <a:pPr marL="0" indent="0">
              <a:spcAft>
                <a:spcPts val="300"/>
              </a:spcAft>
              <a:buNone/>
            </a:pPr>
            <a:r>
              <a:rPr lang="en-US" sz="950" dirty="0">
                <a:solidFill>
                  <a:srgbClr val="4A5568"/>
                </a:solidFill>
              </a:rPr>
              <a:t>Creating rough sketches of the screen layouts, deciding the database structure, and mapping out how users will move through the application.</a:t>
            </a:r>
            <a:endParaRPr lang="en-US" sz="950" dirty="0"/>
          </a:p>
        </p:txBody>
      </p:sp>
      <p:sp>
        <p:nvSpPr>
          <p:cNvPr id="19" name="Shape 17"/>
          <p:cNvSpPr/>
          <p:nvPr/>
        </p:nvSpPr>
        <p:spPr>
          <a:xfrm>
            <a:off x="3749040" y="1965960"/>
            <a:ext cx="1600200" cy="2971800"/>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20" name="Shape 18"/>
          <p:cNvSpPr/>
          <p:nvPr/>
        </p:nvSpPr>
        <p:spPr>
          <a:xfrm>
            <a:off x="3749040" y="1965960"/>
            <a:ext cx="1600200" cy="502920"/>
          </a:xfrm>
          <a:prstGeom prst="rect">
            <a:avLst/>
          </a:prstGeom>
          <a:solidFill>
            <a:srgbClr val="38B2AC"/>
          </a:solidFill>
          <a:ln w="12700">
            <a:solidFill>
              <a:srgbClr val="38B2AC"/>
            </a:solidFill>
            <a:prstDash val="solid"/>
          </a:ln>
        </p:spPr>
      </p:sp>
      <p:sp>
        <p:nvSpPr>
          <p:cNvPr id="21" name="Text 19"/>
          <p:cNvSpPr/>
          <p:nvPr/>
        </p:nvSpPr>
        <p:spPr>
          <a:xfrm>
            <a:off x="3749040" y="1965960"/>
            <a:ext cx="384048" cy="502920"/>
          </a:xfrm>
          <a:prstGeom prst="rect">
            <a:avLst/>
          </a:prstGeom>
          <a:noFill/>
          <a:ln/>
        </p:spPr>
        <p:txBody>
          <a:bodyPr wrap="square" rtlCol="0" anchor="ctr"/>
          <a:lstStyle/>
          <a:p>
            <a:pPr marL="0" indent="0" algn="ctr">
              <a:buNone/>
            </a:pPr>
            <a:r>
              <a:rPr lang="en-US" sz="1100" b="1" dirty="0">
                <a:solidFill>
                  <a:srgbClr val="FFFFFF"/>
                </a:solidFill>
              </a:rPr>
              <a:t>03</a:t>
            </a:r>
            <a:endParaRPr lang="en-US" sz="1100" dirty="0"/>
          </a:p>
        </p:txBody>
      </p:sp>
      <p:sp>
        <p:nvSpPr>
          <p:cNvPr id="22" name="Text 20"/>
          <p:cNvSpPr/>
          <p:nvPr/>
        </p:nvSpPr>
        <p:spPr>
          <a:xfrm>
            <a:off x="4133088" y="1965960"/>
            <a:ext cx="1143000" cy="502920"/>
          </a:xfrm>
          <a:prstGeom prst="rect">
            <a:avLst/>
          </a:prstGeom>
          <a:noFill/>
          <a:ln/>
        </p:spPr>
        <p:txBody>
          <a:bodyPr wrap="square" rtlCol="0" anchor="ctr"/>
          <a:lstStyle/>
          <a:p>
            <a:pPr marL="0" indent="0" algn="l">
              <a:buNone/>
            </a:pPr>
            <a:r>
              <a:rPr lang="en-US" sz="1100" b="1" dirty="0">
                <a:solidFill>
                  <a:srgbClr val="FFFFFF"/>
                </a:solidFill>
              </a:rPr>
              <a:t>Development</a:t>
            </a:r>
            <a:endParaRPr lang="en-US" sz="1100" dirty="0"/>
          </a:p>
        </p:txBody>
      </p:sp>
      <p:sp>
        <p:nvSpPr>
          <p:cNvPr id="23" name="Text 21"/>
          <p:cNvSpPr/>
          <p:nvPr/>
        </p:nvSpPr>
        <p:spPr>
          <a:xfrm>
            <a:off x="3840480" y="2532888"/>
            <a:ext cx="1417320" cy="2331720"/>
          </a:xfrm>
          <a:prstGeom prst="rect">
            <a:avLst/>
          </a:prstGeom>
          <a:noFill/>
          <a:ln/>
        </p:spPr>
        <p:txBody>
          <a:bodyPr wrap="square" rtlCol="0" anchor="t"/>
          <a:lstStyle/>
          <a:p>
            <a:pPr marL="0" indent="0">
              <a:spcAft>
                <a:spcPts val="300"/>
              </a:spcAft>
              <a:buNone/>
            </a:pPr>
            <a:r>
              <a:rPr lang="en-US" sz="950" dirty="0">
                <a:solidFill>
                  <a:srgbClr val="4A5568"/>
                </a:solidFill>
              </a:rPr>
              <a:t>Writing the actual code — building the server, creating the database, and designing all the pages that users will interact with.</a:t>
            </a:r>
            <a:endParaRPr lang="en-US" sz="950" dirty="0"/>
          </a:p>
        </p:txBody>
      </p:sp>
      <p:sp>
        <p:nvSpPr>
          <p:cNvPr id="24" name="Shape 22"/>
          <p:cNvSpPr/>
          <p:nvPr/>
        </p:nvSpPr>
        <p:spPr>
          <a:xfrm>
            <a:off x="5486400" y="1965960"/>
            <a:ext cx="1600200" cy="2971800"/>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25" name="Shape 23"/>
          <p:cNvSpPr/>
          <p:nvPr/>
        </p:nvSpPr>
        <p:spPr>
          <a:xfrm>
            <a:off x="5486400" y="1965960"/>
            <a:ext cx="1600200" cy="502920"/>
          </a:xfrm>
          <a:prstGeom prst="rect">
            <a:avLst/>
          </a:prstGeom>
          <a:solidFill>
            <a:srgbClr val="000000"/>
          </a:solidFill>
          <a:ln w="12700">
            <a:solidFill>
              <a:srgbClr val="333333"/>
            </a:solidFill>
            <a:prstDash val="solid"/>
          </a:ln>
        </p:spPr>
      </p:sp>
      <p:sp>
        <p:nvSpPr>
          <p:cNvPr id="26" name="Text 24"/>
          <p:cNvSpPr/>
          <p:nvPr/>
        </p:nvSpPr>
        <p:spPr>
          <a:xfrm>
            <a:off x="5486400" y="1965960"/>
            <a:ext cx="384048" cy="502920"/>
          </a:xfrm>
          <a:prstGeom prst="rect">
            <a:avLst/>
          </a:prstGeom>
          <a:noFill/>
          <a:ln/>
        </p:spPr>
        <p:txBody>
          <a:bodyPr wrap="square" rtlCol="0" anchor="ctr"/>
          <a:lstStyle/>
          <a:p>
            <a:pPr marL="0" indent="0" algn="ctr">
              <a:buNone/>
            </a:pPr>
            <a:r>
              <a:rPr lang="en-US" sz="1100" b="1" dirty="0">
                <a:solidFill>
                  <a:srgbClr val="FFFFFF"/>
                </a:solidFill>
              </a:rPr>
              <a:t>04</a:t>
            </a:r>
            <a:endParaRPr lang="en-US" sz="1100" dirty="0"/>
          </a:p>
        </p:txBody>
      </p:sp>
      <p:sp>
        <p:nvSpPr>
          <p:cNvPr id="27" name="Text 25"/>
          <p:cNvSpPr/>
          <p:nvPr/>
        </p:nvSpPr>
        <p:spPr>
          <a:xfrm>
            <a:off x="5870448" y="1965960"/>
            <a:ext cx="1143000" cy="502920"/>
          </a:xfrm>
          <a:prstGeom prst="rect">
            <a:avLst/>
          </a:prstGeom>
          <a:noFill/>
          <a:ln/>
        </p:spPr>
        <p:txBody>
          <a:bodyPr wrap="square" rtlCol="0" anchor="ctr"/>
          <a:lstStyle/>
          <a:p>
            <a:pPr marL="0" indent="0" algn="l">
              <a:buNone/>
            </a:pPr>
            <a:r>
              <a:rPr lang="en-US" sz="1100" b="1" dirty="0">
                <a:solidFill>
                  <a:srgbClr val="FFFFFF"/>
                </a:solidFill>
              </a:rPr>
              <a:t>Testing</a:t>
            </a:r>
            <a:endParaRPr lang="en-US" sz="1100" dirty="0"/>
          </a:p>
        </p:txBody>
      </p:sp>
      <p:sp>
        <p:nvSpPr>
          <p:cNvPr id="28" name="Text 26"/>
          <p:cNvSpPr/>
          <p:nvPr/>
        </p:nvSpPr>
        <p:spPr>
          <a:xfrm>
            <a:off x="5577840" y="2532888"/>
            <a:ext cx="1417320" cy="2331720"/>
          </a:xfrm>
          <a:prstGeom prst="rect">
            <a:avLst/>
          </a:prstGeom>
          <a:noFill/>
          <a:ln/>
        </p:spPr>
        <p:txBody>
          <a:bodyPr wrap="square" rtlCol="0" anchor="t"/>
          <a:lstStyle/>
          <a:p>
            <a:pPr marL="0" indent="0">
              <a:spcAft>
                <a:spcPts val="300"/>
              </a:spcAft>
              <a:buNone/>
            </a:pPr>
            <a:r>
              <a:rPr lang="en-US" sz="950" dirty="0">
                <a:solidFill>
                  <a:srgbClr val="4A5568"/>
                </a:solidFill>
              </a:rPr>
              <a:t>Checking each feature thoroughly to ensure it works correctly. Fixing any errors found during testing before releasing the application.</a:t>
            </a:r>
            <a:endParaRPr lang="en-US" sz="950" dirty="0"/>
          </a:p>
        </p:txBody>
      </p:sp>
      <p:sp>
        <p:nvSpPr>
          <p:cNvPr id="29" name="Shape 27"/>
          <p:cNvSpPr/>
          <p:nvPr/>
        </p:nvSpPr>
        <p:spPr>
          <a:xfrm>
            <a:off x="7223760" y="1965960"/>
            <a:ext cx="1600200" cy="2971800"/>
          </a:xfrm>
          <a:prstGeom prst="rect">
            <a:avLst/>
          </a:prstGeom>
          <a:solidFill>
            <a:srgbClr val="FFFFFF"/>
          </a:solidFill>
          <a:ln w="12700">
            <a:solidFill>
              <a:srgbClr val="E2E8F0"/>
            </a:solidFill>
            <a:prstDash val="solid"/>
          </a:ln>
          <a:effectLst>
            <a:outerShdw blurRad="127000" dist="38100" dir="8100000" algn="bl" rotWithShape="0">
              <a:srgbClr val="000000">
                <a:alpha val="9000"/>
              </a:srgbClr>
            </a:outerShdw>
          </a:effectLst>
        </p:spPr>
      </p:sp>
      <p:sp>
        <p:nvSpPr>
          <p:cNvPr id="30" name="Shape 28"/>
          <p:cNvSpPr/>
          <p:nvPr/>
        </p:nvSpPr>
        <p:spPr>
          <a:xfrm>
            <a:off x="7223760" y="1965960"/>
            <a:ext cx="1600200" cy="502920"/>
          </a:xfrm>
          <a:prstGeom prst="rect">
            <a:avLst/>
          </a:prstGeom>
          <a:solidFill>
            <a:srgbClr val="6C5CE7"/>
          </a:solidFill>
          <a:ln w="12700">
            <a:solidFill>
              <a:srgbClr val="6C5CE7"/>
            </a:solidFill>
            <a:prstDash val="solid"/>
          </a:ln>
        </p:spPr>
      </p:sp>
      <p:sp>
        <p:nvSpPr>
          <p:cNvPr id="31" name="Text 29"/>
          <p:cNvSpPr/>
          <p:nvPr/>
        </p:nvSpPr>
        <p:spPr>
          <a:xfrm>
            <a:off x="7223760" y="1965960"/>
            <a:ext cx="384048" cy="502920"/>
          </a:xfrm>
          <a:prstGeom prst="rect">
            <a:avLst/>
          </a:prstGeom>
          <a:noFill/>
          <a:ln/>
        </p:spPr>
        <p:txBody>
          <a:bodyPr wrap="square" rtlCol="0" anchor="ctr"/>
          <a:lstStyle/>
          <a:p>
            <a:pPr marL="0" indent="0" algn="ctr">
              <a:buNone/>
            </a:pPr>
            <a:r>
              <a:rPr lang="en-US" sz="1100" b="1" dirty="0">
                <a:solidFill>
                  <a:srgbClr val="FFFFFF"/>
                </a:solidFill>
              </a:rPr>
              <a:t>05</a:t>
            </a:r>
            <a:endParaRPr lang="en-US" sz="1100" dirty="0"/>
          </a:p>
        </p:txBody>
      </p:sp>
      <p:sp>
        <p:nvSpPr>
          <p:cNvPr id="32" name="Text 30"/>
          <p:cNvSpPr/>
          <p:nvPr/>
        </p:nvSpPr>
        <p:spPr>
          <a:xfrm>
            <a:off x="7607808" y="1965960"/>
            <a:ext cx="1143000" cy="502920"/>
          </a:xfrm>
          <a:prstGeom prst="rect">
            <a:avLst/>
          </a:prstGeom>
          <a:noFill/>
          <a:ln/>
        </p:spPr>
        <p:txBody>
          <a:bodyPr wrap="square" rtlCol="0" anchor="ctr"/>
          <a:lstStyle/>
          <a:p>
            <a:pPr marL="0" indent="0" algn="l">
              <a:buNone/>
            </a:pPr>
            <a:r>
              <a:rPr lang="en-US" sz="1100" b="1" dirty="0">
                <a:solidFill>
                  <a:srgbClr val="FFFFFF"/>
                </a:solidFill>
              </a:rPr>
              <a:t>Deployment</a:t>
            </a:r>
            <a:endParaRPr lang="en-US" sz="1100" dirty="0"/>
          </a:p>
        </p:txBody>
      </p:sp>
      <p:sp>
        <p:nvSpPr>
          <p:cNvPr id="33" name="Text 31"/>
          <p:cNvSpPr/>
          <p:nvPr/>
        </p:nvSpPr>
        <p:spPr>
          <a:xfrm>
            <a:off x="7315200" y="2532888"/>
            <a:ext cx="1417320" cy="2331720"/>
          </a:xfrm>
          <a:prstGeom prst="rect">
            <a:avLst/>
          </a:prstGeom>
          <a:noFill/>
          <a:ln/>
        </p:spPr>
        <p:txBody>
          <a:bodyPr wrap="square" rtlCol="0" anchor="t"/>
          <a:lstStyle/>
          <a:p>
            <a:pPr marL="0" indent="0">
              <a:spcAft>
                <a:spcPts val="300"/>
              </a:spcAft>
              <a:buNone/>
            </a:pPr>
            <a:r>
              <a:rPr lang="en-US" sz="950" dirty="0">
                <a:solidFill>
                  <a:srgbClr val="4A5568"/>
                </a:solidFill>
              </a:rPr>
              <a:t>Making the application live on the internet so real users can access it from any device through a public web address.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Text 1"/>
          <p:cNvSpPr/>
          <p:nvPr/>
        </p:nvSpPr>
        <p:spPr>
          <a:xfrm>
            <a:off x="457200" y="73152"/>
            <a:ext cx="5486400" cy="347472"/>
          </a:xfrm>
          <a:prstGeom prst="rect">
            <a:avLst/>
          </a:prstGeom>
          <a:noFill/>
          <a:ln/>
        </p:spPr>
        <p:txBody>
          <a:bodyPr wrap="square" rtlCol="0" anchor="ctr"/>
          <a:lstStyle/>
          <a:p>
            <a:pPr marL="0" indent="0">
              <a:buNone/>
            </a:pPr>
            <a:r>
              <a:rPr lang="en-US" sz="900" b="1" kern="0" spc="200" dirty="0">
                <a:solidFill>
                  <a:srgbClr val="F4A261"/>
                </a:solidFill>
              </a:rPr>
              <a:t>06  /  Frontend Design</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2100" b="1" dirty="0">
                <a:solidFill>
                  <a:srgbClr val="FFFFFF"/>
                </a:solidFill>
              </a:rPr>
              <a:t>User Interface — Technologies, Design &amp; Interaction</a:t>
            </a:r>
            <a:endParaRPr lang="en-US" sz="2100" dirty="0"/>
          </a:p>
        </p:txBody>
      </p:sp>
      <p:sp>
        <p:nvSpPr>
          <p:cNvPr id="5" name="Shape 3"/>
          <p:cNvSpPr/>
          <p:nvPr/>
        </p:nvSpPr>
        <p:spPr>
          <a:xfrm>
            <a:off x="274320" y="1078992"/>
            <a:ext cx="4023360" cy="384048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6" name="Text 4"/>
          <p:cNvSpPr/>
          <p:nvPr/>
        </p:nvSpPr>
        <p:spPr>
          <a:xfrm>
            <a:off x="411480" y="1170432"/>
            <a:ext cx="3749040" cy="347472"/>
          </a:xfrm>
          <a:prstGeom prst="rect">
            <a:avLst/>
          </a:prstGeom>
          <a:noFill/>
          <a:ln/>
        </p:spPr>
        <p:txBody>
          <a:bodyPr wrap="square" rtlCol="0" anchor="ctr"/>
          <a:lstStyle/>
          <a:p>
            <a:pPr marL="0" indent="0">
              <a:buNone/>
            </a:pPr>
            <a:r>
              <a:rPr lang="en-US" sz="1200" b="1" dirty="0">
                <a:solidFill>
                  <a:srgbClr val="1B2A4A"/>
                </a:solidFill>
              </a:rPr>
              <a:t>Technologies Used for the Frontend</a:t>
            </a:r>
            <a:endParaRPr lang="en-US" sz="1200" dirty="0"/>
          </a:p>
        </p:txBody>
      </p:sp>
      <p:sp>
        <p:nvSpPr>
          <p:cNvPr id="7" name="Shape 5"/>
          <p:cNvSpPr/>
          <p:nvPr/>
        </p:nvSpPr>
        <p:spPr>
          <a:xfrm>
            <a:off x="365760" y="1627632"/>
            <a:ext cx="64008" cy="457200"/>
          </a:xfrm>
          <a:prstGeom prst="rect">
            <a:avLst/>
          </a:prstGeom>
          <a:solidFill>
            <a:srgbClr val="E05C41"/>
          </a:solidFill>
          <a:ln w="12700">
            <a:solidFill>
              <a:srgbClr val="E05C41"/>
            </a:solidFill>
            <a:prstDash val="solid"/>
          </a:ln>
        </p:spPr>
      </p:sp>
      <p:sp>
        <p:nvSpPr>
          <p:cNvPr id="8" name="Text 6"/>
          <p:cNvSpPr/>
          <p:nvPr/>
        </p:nvSpPr>
        <p:spPr>
          <a:xfrm>
            <a:off x="548640" y="1636776"/>
            <a:ext cx="3566160" cy="219456"/>
          </a:xfrm>
          <a:prstGeom prst="rect">
            <a:avLst/>
          </a:prstGeom>
          <a:noFill/>
          <a:ln/>
        </p:spPr>
        <p:txBody>
          <a:bodyPr wrap="square" rtlCol="0" anchor="ctr"/>
          <a:lstStyle/>
          <a:p>
            <a:pPr marL="0" indent="0">
              <a:buNone/>
            </a:pPr>
            <a:r>
              <a:rPr lang="en-US" sz="1050" b="1" dirty="0">
                <a:solidFill>
                  <a:srgbClr val="1B2A4A"/>
                </a:solidFill>
              </a:rPr>
              <a:t>React JS</a:t>
            </a:r>
            <a:endParaRPr lang="en-US" sz="1050" dirty="0"/>
          </a:p>
        </p:txBody>
      </p:sp>
      <p:sp>
        <p:nvSpPr>
          <p:cNvPr id="9" name="Text 7"/>
          <p:cNvSpPr/>
          <p:nvPr/>
        </p:nvSpPr>
        <p:spPr>
          <a:xfrm>
            <a:off x="548640" y="1856232"/>
            <a:ext cx="3566160" cy="237744"/>
          </a:xfrm>
          <a:prstGeom prst="rect">
            <a:avLst/>
          </a:prstGeom>
          <a:noFill/>
          <a:ln/>
        </p:spPr>
        <p:txBody>
          <a:bodyPr wrap="square" rtlCol="0" anchor="ctr"/>
          <a:lstStyle/>
          <a:p>
            <a:pPr marL="0" indent="0">
              <a:buNone/>
            </a:pPr>
            <a:r>
              <a:rPr lang="en-US" sz="850" dirty="0">
                <a:solidFill>
                  <a:srgbClr val="4A5568"/>
                </a:solidFill>
              </a:rPr>
              <a:t>Used to build the entire user interface. React breaks the UI into small reusable pieces called components, making the code organized and easy to manage.</a:t>
            </a:r>
            <a:endParaRPr lang="en-US" sz="850" dirty="0"/>
          </a:p>
        </p:txBody>
      </p:sp>
      <p:sp>
        <p:nvSpPr>
          <p:cNvPr id="10" name="Shape 8"/>
          <p:cNvSpPr/>
          <p:nvPr/>
        </p:nvSpPr>
        <p:spPr>
          <a:xfrm>
            <a:off x="365760" y="2267712"/>
            <a:ext cx="64008" cy="457200"/>
          </a:xfrm>
          <a:prstGeom prst="rect">
            <a:avLst/>
          </a:prstGeom>
          <a:solidFill>
            <a:srgbClr val="38B2AC"/>
          </a:solidFill>
          <a:ln w="12700">
            <a:solidFill>
              <a:srgbClr val="38B2AC"/>
            </a:solidFill>
            <a:prstDash val="solid"/>
          </a:ln>
        </p:spPr>
      </p:sp>
      <p:sp>
        <p:nvSpPr>
          <p:cNvPr id="11" name="Text 9"/>
          <p:cNvSpPr/>
          <p:nvPr/>
        </p:nvSpPr>
        <p:spPr>
          <a:xfrm>
            <a:off x="548640" y="2276856"/>
            <a:ext cx="3566160" cy="219456"/>
          </a:xfrm>
          <a:prstGeom prst="rect">
            <a:avLst/>
          </a:prstGeom>
          <a:noFill/>
          <a:ln/>
        </p:spPr>
        <p:txBody>
          <a:bodyPr wrap="square" rtlCol="0" anchor="ctr"/>
          <a:lstStyle/>
          <a:p>
            <a:pPr marL="0" indent="0">
              <a:buNone/>
            </a:pPr>
            <a:r>
              <a:rPr lang="en-US" sz="1050" b="1" dirty="0">
                <a:solidFill>
                  <a:srgbClr val="1B2A4A"/>
                </a:solidFill>
              </a:rPr>
              <a:t>React Router</a:t>
            </a:r>
            <a:endParaRPr lang="en-US" sz="1050" dirty="0"/>
          </a:p>
        </p:txBody>
      </p:sp>
      <p:sp>
        <p:nvSpPr>
          <p:cNvPr id="12" name="Text 10"/>
          <p:cNvSpPr/>
          <p:nvPr/>
        </p:nvSpPr>
        <p:spPr>
          <a:xfrm>
            <a:off x="548640" y="2496312"/>
            <a:ext cx="3566160" cy="237744"/>
          </a:xfrm>
          <a:prstGeom prst="rect">
            <a:avLst/>
          </a:prstGeom>
          <a:noFill/>
          <a:ln/>
        </p:spPr>
        <p:txBody>
          <a:bodyPr wrap="square" rtlCol="0" anchor="ctr"/>
          <a:lstStyle/>
          <a:p>
            <a:pPr marL="0" indent="0">
              <a:buNone/>
            </a:pPr>
            <a:r>
              <a:rPr lang="en-US" sz="850" dirty="0">
                <a:solidFill>
                  <a:srgbClr val="4A5568"/>
                </a:solidFill>
              </a:rPr>
              <a:t>Handles navigation between different pages of the application without reloading the browser each time the user clicks a link.</a:t>
            </a:r>
            <a:endParaRPr lang="en-US" sz="850" dirty="0"/>
          </a:p>
        </p:txBody>
      </p:sp>
      <p:sp>
        <p:nvSpPr>
          <p:cNvPr id="13" name="Shape 11"/>
          <p:cNvSpPr/>
          <p:nvPr/>
        </p:nvSpPr>
        <p:spPr>
          <a:xfrm>
            <a:off x="365760" y="2907792"/>
            <a:ext cx="64008" cy="457200"/>
          </a:xfrm>
          <a:prstGeom prst="rect">
            <a:avLst/>
          </a:prstGeom>
          <a:solidFill>
            <a:srgbClr val="F4A261"/>
          </a:solidFill>
          <a:ln w="12700">
            <a:solidFill>
              <a:srgbClr val="F4A261"/>
            </a:solidFill>
            <a:prstDash val="solid"/>
          </a:ln>
        </p:spPr>
      </p:sp>
      <p:sp>
        <p:nvSpPr>
          <p:cNvPr id="14" name="Text 12"/>
          <p:cNvSpPr/>
          <p:nvPr/>
        </p:nvSpPr>
        <p:spPr>
          <a:xfrm>
            <a:off x="548640" y="2916936"/>
            <a:ext cx="3566160" cy="219456"/>
          </a:xfrm>
          <a:prstGeom prst="rect">
            <a:avLst/>
          </a:prstGeom>
          <a:noFill/>
          <a:ln/>
        </p:spPr>
        <p:txBody>
          <a:bodyPr wrap="square" rtlCol="0" anchor="ctr"/>
          <a:lstStyle/>
          <a:p>
            <a:pPr marL="0" indent="0">
              <a:buNone/>
            </a:pPr>
            <a:r>
              <a:rPr lang="en-US" sz="1050" b="1" dirty="0">
                <a:solidFill>
                  <a:srgbClr val="1B2A4A"/>
                </a:solidFill>
              </a:rPr>
              <a:t>Axios</a:t>
            </a:r>
            <a:endParaRPr lang="en-US" sz="1050" dirty="0"/>
          </a:p>
        </p:txBody>
      </p:sp>
      <p:sp>
        <p:nvSpPr>
          <p:cNvPr id="15" name="Text 13"/>
          <p:cNvSpPr/>
          <p:nvPr/>
        </p:nvSpPr>
        <p:spPr>
          <a:xfrm>
            <a:off x="548640" y="3136392"/>
            <a:ext cx="3566160" cy="237744"/>
          </a:xfrm>
          <a:prstGeom prst="rect">
            <a:avLst/>
          </a:prstGeom>
          <a:noFill/>
          <a:ln/>
        </p:spPr>
        <p:txBody>
          <a:bodyPr wrap="square" rtlCol="0" anchor="ctr"/>
          <a:lstStyle/>
          <a:p>
            <a:pPr marL="0" indent="0">
              <a:buNone/>
            </a:pPr>
            <a:r>
              <a:rPr lang="en-US" sz="850" dirty="0">
                <a:solidFill>
                  <a:srgbClr val="4A5568"/>
                </a:solidFill>
              </a:rPr>
              <a:t>Used to send requests to the server and receive data in return — for example, fetching the list of available services.</a:t>
            </a:r>
            <a:endParaRPr lang="en-US" sz="850" dirty="0"/>
          </a:p>
        </p:txBody>
      </p:sp>
      <p:sp>
        <p:nvSpPr>
          <p:cNvPr id="16" name="Shape 14"/>
          <p:cNvSpPr/>
          <p:nvPr/>
        </p:nvSpPr>
        <p:spPr>
          <a:xfrm>
            <a:off x="365760" y="3547872"/>
            <a:ext cx="64008" cy="457200"/>
          </a:xfrm>
          <a:prstGeom prst="rect">
            <a:avLst/>
          </a:prstGeom>
          <a:solidFill>
            <a:srgbClr val="6C5CE7"/>
          </a:solidFill>
          <a:ln w="12700">
            <a:solidFill>
              <a:srgbClr val="6C5CE7"/>
            </a:solidFill>
            <a:prstDash val="solid"/>
          </a:ln>
        </p:spPr>
      </p:sp>
      <p:sp>
        <p:nvSpPr>
          <p:cNvPr id="17" name="Text 15"/>
          <p:cNvSpPr/>
          <p:nvPr/>
        </p:nvSpPr>
        <p:spPr>
          <a:xfrm>
            <a:off x="548640" y="3557016"/>
            <a:ext cx="3566160" cy="219456"/>
          </a:xfrm>
          <a:prstGeom prst="rect">
            <a:avLst/>
          </a:prstGeom>
          <a:noFill/>
          <a:ln/>
        </p:spPr>
        <p:txBody>
          <a:bodyPr wrap="square" rtlCol="0" anchor="ctr"/>
          <a:lstStyle/>
          <a:p>
            <a:pPr marL="0" indent="0">
              <a:buNone/>
            </a:pPr>
            <a:r>
              <a:rPr lang="en-US" sz="1050" b="1" dirty="0">
                <a:solidFill>
                  <a:srgbClr val="1B2A4A"/>
                </a:solidFill>
              </a:rPr>
              <a:t>Context API</a:t>
            </a:r>
            <a:endParaRPr lang="en-US" sz="1050" dirty="0"/>
          </a:p>
        </p:txBody>
      </p:sp>
      <p:sp>
        <p:nvSpPr>
          <p:cNvPr id="18" name="Text 16"/>
          <p:cNvSpPr/>
          <p:nvPr/>
        </p:nvSpPr>
        <p:spPr>
          <a:xfrm>
            <a:off x="548640" y="3776472"/>
            <a:ext cx="3566160" cy="237744"/>
          </a:xfrm>
          <a:prstGeom prst="rect">
            <a:avLst/>
          </a:prstGeom>
          <a:noFill/>
          <a:ln/>
        </p:spPr>
        <p:txBody>
          <a:bodyPr wrap="square" rtlCol="0" anchor="ctr"/>
          <a:lstStyle/>
          <a:p>
            <a:pPr marL="0" indent="0">
              <a:buNone/>
            </a:pPr>
            <a:r>
              <a:rPr lang="en-US" sz="850" dirty="0">
                <a:solidFill>
                  <a:srgbClr val="4A5568"/>
                </a:solidFill>
              </a:rPr>
              <a:t>Manages the login session across the entire app so that the logged-in user's information is always available on every page.</a:t>
            </a:r>
            <a:endParaRPr lang="en-US" sz="850" dirty="0"/>
          </a:p>
        </p:txBody>
      </p:sp>
      <p:sp>
        <p:nvSpPr>
          <p:cNvPr id="19" name="Shape 17"/>
          <p:cNvSpPr/>
          <p:nvPr/>
        </p:nvSpPr>
        <p:spPr>
          <a:xfrm>
            <a:off x="365760" y="4187952"/>
            <a:ext cx="64008" cy="457200"/>
          </a:xfrm>
          <a:prstGeom prst="rect">
            <a:avLst/>
          </a:prstGeom>
          <a:solidFill>
            <a:srgbClr val="000000"/>
          </a:solidFill>
          <a:ln w="12700">
            <a:solidFill>
              <a:srgbClr val="333333"/>
            </a:solidFill>
            <a:prstDash val="solid"/>
          </a:ln>
        </p:spPr>
      </p:sp>
      <p:sp>
        <p:nvSpPr>
          <p:cNvPr id="20" name="Text 18"/>
          <p:cNvSpPr/>
          <p:nvPr/>
        </p:nvSpPr>
        <p:spPr>
          <a:xfrm>
            <a:off x="548640" y="4197096"/>
            <a:ext cx="3566160" cy="219456"/>
          </a:xfrm>
          <a:prstGeom prst="rect">
            <a:avLst/>
          </a:prstGeom>
          <a:noFill/>
          <a:ln/>
        </p:spPr>
        <p:txBody>
          <a:bodyPr wrap="square" rtlCol="0" anchor="ctr"/>
          <a:lstStyle/>
          <a:p>
            <a:pPr marL="0" indent="0">
              <a:buNone/>
            </a:pPr>
            <a:r>
              <a:rPr lang="en-US" sz="1050" b="1" dirty="0">
                <a:solidFill>
                  <a:srgbClr val="1B2A4A"/>
                </a:solidFill>
              </a:rPr>
              <a:t>Custom CSS</a:t>
            </a:r>
            <a:endParaRPr lang="en-US" sz="1050" dirty="0"/>
          </a:p>
        </p:txBody>
      </p:sp>
      <p:sp>
        <p:nvSpPr>
          <p:cNvPr id="21" name="Text 19"/>
          <p:cNvSpPr/>
          <p:nvPr/>
        </p:nvSpPr>
        <p:spPr>
          <a:xfrm>
            <a:off x="548640" y="4416552"/>
            <a:ext cx="3566160" cy="237744"/>
          </a:xfrm>
          <a:prstGeom prst="rect">
            <a:avLst/>
          </a:prstGeom>
          <a:noFill/>
          <a:ln/>
        </p:spPr>
        <p:txBody>
          <a:bodyPr wrap="square" rtlCol="0" anchor="ctr"/>
          <a:lstStyle/>
          <a:p>
            <a:pPr marL="0" indent="0">
              <a:buNone/>
            </a:pPr>
            <a:r>
              <a:rPr lang="en-US" sz="850" dirty="0">
                <a:solidFill>
                  <a:srgbClr val="4A5568"/>
                </a:solidFill>
              </a:rPr>
              <a:t>All visual styling — colors, layouts, fonts, and responsiveness — was hand-coded without relying on any pre-made design library.</a:t>
            </a:r>
            <a:endParaRPr lang="en-US" sz="850" dirty="0"/>
          </a:p>
        </p:txBody>
      </p:sp>
      <p:sp>
        <p:nvSpPr>
          <p:cNvPr id="22" name="Shape 20"/>
          <p:cNvSpPr/>
          <p:nvPr/>
        </p:nvSpPr>
        <p:spPr>
          <a:xfrm>
            <a:off x="4480560" y="1078992"/>
            <a:ext cx="4389120" cy="1719072"/>
          </a:xfrm>
          <a:prstGeom prst="rect">
            <a:avLst/>
          </a:prstGeom>
          <a:solidFill>
            <a:srgbClr val="1B2A4A"/>
          </a:solidFill>
          <a:ln w="12700">
            <a:solidFill>
              <a:srgbClr val="1B2A4A"/>
            </a:solidFill>
            <a:prstDash val="solid"/>
          </a:ln>
          <a:effectLst>
            <a:outerShdw blurRad="177800" dist="50800" dir="8100000" algn="bl" rotWithShape="0">
              <a:srgbClr val="000000">
                <a:alpha val="7000"/>
              </a:srgbClr>
            </a:outerShdw>
          </a:effectLst>
        </p:spPr>
      </p:sp>
      <p:sp>
        <p:nvSpPr>
          <p:cNvPr id="23" name="Text 21"/>
          <p:cNvSpPr/>
          <p:nvPr/>
        </p:nvSpPr>
        <p:spPr>
          <a:xfrm>
            <a:off x="4617720" y="1170432"/>
            <a:ext cx="4114800" cy="320040"/>
          </a:xfrm>
          <a:prstGeom prst="rect">
            <a:avLst/>
          </a:prstGeom>
          <a:noFill/>
          <a:ln/>
        </p:spPr>
        <p:txBody>
          <a:bodyPr wrap="square" rtlCol="0" anchor="ctr"/>
          <a:lstStyle/>
          <a:p>
            <a:pPr marL="0" indent="0">
              <a:buNone/>
            </a:pPr>
            <a:r>
              <a:rPr lang="en-US" sz="1200" b="1" dirty="0">
                <a:solidFill>
                  <a:srgbClr val="F4A261"/>
                </a:solidFill>
              </a:rPr>
              <a:t>UI Design Highlights</a:t>
            </a:r>
            <a:endParaRPr lang="en-US" sz="1200" dirty="0"/>
          </a:p>
        </p:txBody>
      </p:sp>
      <p:sp>
        <p:nvSpPr>
          <p:cNvPr id="24" name="Text 22"/>
          <p:cNvSpPr/>
          <p:nvPr/>
        </p:nvSpPr>
        <p:spPr>
          <a:xfrm>
            <a:off x="4617720" y="1554480"/>
            <a:ext cx="4114800" cy="274320"/>
          </a:xfrm>
          <a:prstGeom prst="rect">
            <a:avLst/>
          </a:prstGeom>
          <a:noFill/>
          <a:ln/>
        </p:spPr>
        <p:txBody>
          <a:bodyPr wrap="square" rtlCol="0" anchor="ctr"/>
          <a:lstStyle/>
          <a:p>
            <a:pPr marL="0" indent="0">
              <a:buNone/>
            </a:pPr>
            <a:r>
              <a:rPr lang="en-US" sz="950" dirty="0">
                <a:solidFill>
                  <a:srgbClr val="A8C0D0"/>
                </a:solidFill>
              </a:rPr>
              <a:t>  A welcoming home page with a search bar and service category cards</a:t>
            </a:r>
            <a:endParaRPr lang="en-US" sz="950" dirty="0"/>
          </a:p>
        </p:txBody>
      </p:sp>
      <p:sp>
        <p:nvSpPr>
          <p:cNvPr id="25" name="Text 23"/>
          <p:cNvSpPr/>
          <p:nvPr/>
        </p:nvSpPr>
        <p:spPr>
          <a:xfrm>
            <a:off x="4617720" y="1856232"/>
            <a:ext cx="4114800" cy="274320"/>
          </a:xfrm>
          <a:prstGeom prst="rect">
            <a:avLst/>
          </a:prstGeom>
          <a:noFill/>
          <a:ln/>
        </p:spPr>
        <p:txBody>
          <a:bodyPr wrap="square" rtlCol="0" anchor="ctr"/>
          <a:lstStyle/>
          <a:p>
            <a:pPr marL="0" indent="0">
              <a:buNone/>
            </a:pPr>
            <a:r>
              <a:rPr lang="en-US" sz="950" dirty="0">
                <a:solidFill>
                  <a:srgbClr val="A8C0D0"/>
                </a:solidFill>
              </a:rPr>
              <a:t>  Individual service listing cards showing image, price, rating and provider name</a:t>
            </a:r>
            <a:endParaRPr lang="en-US" sz="950" dirty="0"/>
          </a:p>
        </p:txBody>
      </p:sp>
      <p:sp>
        <p:nvSpPr>
          <p:cNvPr id="26" name="Text 24"/>
          <p:cNvSpPr/>
          <p:nvPr/>
        </p:nvSpPr>
        <p:spPr>
          <a:xfrm>
            <a:off x="4617720" y="2157984"/>
            <a:ext cx="4114800" cy="274320"/>
          </a:xfrm>
          <a:prstGeom prst="rect">
            <a:avLst/>
          </a:prstGeom>
          <a:noFill/>
          <a:ln/>
        </p:spPr>
        <p:txBody>
          <a:bodyPr wrap="square" rtlCol="0" anchor="ctr"/>
          <a:lstStyle/>
          <a:p>
            <a:pPr marL="0" indent="0">
              <a:buNone/>
            </a:pPr>
            <a:r>
              <a:rPr lang="en-US" sz="950" dirty="0">
                <a:solidFill>
                  <a:srgbClr val="A8C0D0"/>
                </a:solidFill>
              </a:rPr>
              <a:t>  A navigation bar that changes links based on whether the user is a client or provider</a:t>
            </a:r>
            <a:endParaRPr lang="en-US" sz="950" dirty="0"/>
          </a:p>
        </p:txBody>
      </p:sp>
      <p:sp>
        <p:nvSpPr>
          <p:cNvPr id="27" name="Text 25"/>
          <p:cNvSpPr/>
          <p:nvPr/>
        </p:nvSpPr>
        <p:spPr>
          <a:xfrm>
            <a:off x="4617720" y="2459736"/>
            <a:ext cx="4114800" cy="274320"/>
          </a:xfrm>
          <a:prstGeom prst="rect">
            <a:avLst/>
          </a:prstGeom>
          <a:noFill/>
          <a:ln/>
        </p:spPr>
        <p:txBody>
          <a:bodyPr wrap="square" rtlCol="0" anchor="ctr"/>
          <a:lstStyle/>
          <a:p>
            <a:pPr marL="0" indent="0">
              <a:buNone/>
            </a:pPr>
            <a:r>
              <a:rPr lang="en-US" sz="950" dirty="0">
                <a:solidFill>
                  <a:srgbClr val="A8C0D0"/>
                </a:solidFill>
              </a:rPr>
              <a:t>  A booking form where users fill in date, time, address and any special notes</a:t>
            </a:r>
            <a:endParaRPr lang="en-US" sz="950" dirty="0"/>
          </a:p>
        </p:txBody>
      </p:sp>
      <p:sp>
        <p:nvSpPr>
          <p:cNvPr id="28" name="Shape 26"/>
          <p:cNvSpPr/>
          <p:nvPr/>
        </p:nvSpPr>
        <p:spPr>
          <a:xfrm>
            <a:off x="4480560" y="2926080"/>
            <a:ext cx="4389120" cy="1993392"/>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29" name="Text 27"/>
          <p:cNvSpPr/>
          <p:nvPr/>
        </p:nvSpPr>
        <p:spPr>
          <a:xfrm>
            <a:off x="4617720" y="3017520"/>
            <a:ext cx="4114800" cy="320040"/>
          </a:xfrm>
          <a:prstGeom prst="rect">
            <a:avLst/>
          </a:prstGeom>
          <a:noFill/>
          <a:ln/>
        </p:spPr>
        <p:txBody>
          <a:bodyPr wrap="square" rtlCol="0" anchor="ctr"/>
          <a:lstStyle/>
          <a:p>
            <a:pPr marL="0" indent="0">
              <a:buNone/>
            </a:pPr>
            <a:r>
              <a:rPr lang="en-US" sz="1200" b="1" dirty="0">
                <a:solidFill>
                  <a:srgbClr val="1B2A4A"/>
                </a:solidFill>
              </a:rPr>
              <a:t>How a User Moves Through the Application</a:t>
            </a:r>
            <a:endParaRPr lang="en-US" sz="1200" dirty="0"/>
          </a:p>
        </p:txBody>
      </p:sp>
      <p:sp>
        <p:nvSpPr>
          <p:cNvPr id="30" name="Shape 28"/>
          <p:cNvSpPr/>
          <p:nvPr/>
        </p:nvSpPr>
        <p:spPr>
          <a:xfrm>
            <a:off x="4617720" y="3447288"/>
            <a:ext cx="219456" cy="219456"/>
          </a:xfrm>
          <a:prstGeom prst="ellipse">
            <a:avLst/>
          </a:prstGeom>
          <a:solidFill>
            <a:srgbClr val="E05C41"/>
          </a:solidFill>
          <a:ln w="12700">
            <a:solidFill>
              <a:srgbClr val="E05C41"/>
            </a:solidFill>
            <a:prstDash val="solid"/>
          </a:ln>
        </p:spPr>
      </p:sp>
      <p:sp>
        <p:nvSpPr>
          <p:cNvPr id="31" name="Text 29"/>
          <p:cNvSpPr/>
          <p:nvPr/>
        </p:nvSpPr>
        <p:spPr>
          <a:xfrm>
            <a:off x="4617720" y="3447288"/>
            <a:ext cx="219456" cy="219456"/>
          </a:xfrm>
          <a:prstGeom prst="rect">
            <a:avLst/>
          </a:prstGeom>
          <a:noFill/>
          <a:ln/>
        </p:spPr>
        <p:txBody>
          <a:bodyPr wrap="square" rtlCol="0" anchor="ctr"/>
          <a:lstStyle/>
          <a:p>
            <a:pPr marL="0" indent="0" algn="ctr">
              <a:buNone/>
            </a:pPr>
            <a:r>
              <a:rPr lang="en-US" sz="800" b="1" dirty="0">
                <a:solidFill>
                  <a:srgbClr val="FFFFFF"/>
                </a:solidFill>
              </a:rPr>
              <a:t>1</a:t>
            </a:r>
            <a:endParaRPr lang="en-US" sz="800" dirty="0"/>
          </a:p>
        </p:txBody>
      </p:sp>
      <p:sp>
        <p:nvSpPr>
          <p:cNvPr id="32" name="Text 30"/>
          <p:cNvSpPr/>
          <p:nvPr/>
        </p:nvSpPr>
        <p:spPr>
          <a:xfrm>
            <a:off x="4892040" y="3447288"/>
            <a:ext cx="3840480" cy="237744"/>
          </a:xfrm>
          <a:prstGeom prst="rect">
            <a:avLst/>
          </a:prstGeom>
          <a:noFill/>
          <a:ln/>
        </p:spPr>
        <p:txBody>
          <a:bodyPr wrap="square" rtlCol="0" anchor="ctr"/>
          <a:lstStyle/>
          <a:p>
            <a:pPr marL="0" indent="0">
              <a:buNone/>
            </a:pPr>
            <a:r>
              <a:rPr lang="en-US" sz="950" dirty="0">
                <a:solidFill>
                  <a:srgbClr val="4A5568"/>
                </a:solidFill>
              </a:rPr>
              <a:t>Opens the home page and searches for a service</a:t>
            </a:r>
            <a:endParaRPr lang="en-US" sz="950" dirty="0"/>
          </a:p>
        </p:txBody>
      </p:sp>
      <p:sp>
        <p:nvSpPr>
          <p:cNvPr id="33" name="Shape 31"/>
          <p:cNvSpPr/>
          <p:nvPr/>
        </p:nvSpPr>
        <p:spPr>
          <a:xfrm>
            <a:off x="4617720" y="3721608"/>
            <a:ext cx="219456" cy="219456"/>
          </a:xfrm>
          <a:prstGeom prst="ellipse">
            <a:avLst/>
          </a:prstGeom>
          <a:solidFill>
            <a:srgbClr val="E05C41"/>
          </a:solidFill>
          <a:ln w="12700">
            <a:solidFill>
              <a:srgbClr val="E05C41"/>
            </a:solidFill>
            <a:prstDash val="solid"/>
          </a:ln>
        </p:spPr>
      </p:sp>
      <p:sp>
        <p:nvSpPr>
          <p:cNvPr id="34" name="Text 32"/>
          <p:cNvSpPr/>
          <p:nvPr/>
        </p:nvSpPr>
        <p:spPr>
          <a:xfrm>
            <a:off x="4617720" y="3721608"/>
            <a:ext cx="219456" cy="219456"/>
          </a:xfrm>
          <a:prstGeom prst="rect">
            <a:avLst/>
          </a:prstGeom>
          <a:noFill/>
          <a:ln/>
        </p:spPr>
        <p:txBody>
          <a:bodyPr wrap="square" rtlCol="0" anchor="ctr"/>
          <a:lstStyle/>
          <a:p>
            <a:pPr marL="0" indent="0" algn="ctr">
              <a:buNone/>
            </a:pPr>
            <a:r>
              <a:rPr lang="en-US" sz="800" b="1" dirty="0">
                <a:solidFill>
                  <a:srgbClr val="FFFFFF"/>
                </a:solidFill>
              </a:rPr>
              <a:t>2</a:t>
            </a:r>
            <a:endParaRPr lang="en-US" sz="800" dirty="0"/>
          </a:p>
        </p:txBody>
      </p:sp>
      <p:sp>
        <p:nvSpPr>
          <p:cNvPr id="35" name="Text 33"/>
          <p:cNvSpPr/>
          <p:nvPr/>
        </p:nvSpPr>
        <p:spPr>
          <a:xfrm>
            <a:off x="4892040" y="3721608"/>
            <a:ext cx="3840480" cy="237744"/>
          </a:xfrm>
          <a:prstGeom prst="rect">
            <a:avLst/>
          </a:prstGeom>
          <a:noFill/>
          <a:ln/>
        </p:spPr>
        <p:txBody>
          <a:bodyPr wrap="square" rtlCol="0" anchor="ctr"/>
          <a:lstStyle/>
          <a:p>
            <a:pPr marL="0" indent="0">
              <a:buNone/>
            </a:pPr>
            <a:r>
              <a:rPr lang="en-US" sz="950" dirty="0">
                <a:solidFill>
                  <a:srgbClr val="4A5568"/>
                </a:solidFill>
              </a:rPr>
              <a:t>Clicks on a service to view full details and provider info</a:t>
            </a:r>
            <a:endParaRPr lang="en-US" sz="950" dirty="0"/>
          </a:p>
        </p:txBody>
      </p:sp>
      <p:sp>
        <p:nvSpPr>
          <p:cNvPr id="36" name="Shape 34"/>
          <p:cNvSpPr/>
          <p:nvPr/>
        </p:nvSpPr>
        <p:spPr>
          <a:xfrm>
            <a:off x="4617720" y="3995928"/>
            <a:ext cx="219456" cy="219456"/>
          </a:xfrm>
          <a:prstGeom prst="ellipse">
            <a:avLst/>
          </a:prstGeom>
          <a:solidFill>
            <a:srgbClr val="E05C41"/>
          </a:solidFill>
          <a:ln w="12700">
            <a:solidFill>
              <a:srgbClr val="E05C41"/>
            </a:solidFill>
            <a:prstDash val="solid"/>
          </a:ln>
        </p:spPr>
      </p:sp>
      <p:sp>
        <p:nvSpPr>
          <p:cNvPr id="37" name="Text 35"/>
          <p:cNvSpPr/>
          <p:nvPr/>
        </p:nvSpPr>
        <p:spPr>
          <a:xfrm>
            <a:off x="4617720" y="3995928"/>
            <a:ext cx="219456" cy="219456"/>
          </a:xfrm>
          <a:prstGeom prst="rect">
            <a:avLst/>
          </a:prstGeom>
          <a:noFill/>
          <a:ln/>
        </p:spPr>
        <p:txBody>
          <a:bodyPr wrap="square" rtlCol="0" anchor="ctr"/>
          <a:lstStyle/>
          <a:p>
            <a:pPr marL="0" indent="0" algn="ctr">
              <a:buNone/>
            </a:pPr>
            <a:r>
              <a:rPr lang="en-US" sz="800" b="1" dirty="0">
                <a:solidFill>
                  <a:srgbClr val="FFFFFF"/>
                </a:solidFill>
              </a:rPr>
              <a:t>3</a:t>
            </a:r>
            <a:endParaRPr lang="en-US" sz="800" dirty="0"/>
          </a:p>
        </p:txBody>
      </p:sp>
      <p:sp>
        <p:nvSpPr>
          <p:cNvPr id="38" name="Text 36"/>
          <p:cNvSpPr/>
          <p:nvPr/>
        </p:nvSpPr>
        <p:spPr>
          <a:xfrm>
            <a:off x="4892040" y="3995928"/>
            <a:ext cx="3840480" cy="237744"/>
          </a:xfrm>
          <a:prstGeom prst="rect">
            <a:avLst/>
          </a:prstGeom>
          <a:noFill/>
          <a:ln/>
        </p:spPr>
        <p:txBody>
          <a:bodyPr wrap="square" rtlCol="0" anchor="ctr"/>
          <a:lstStyle/>
          <a:p>
            <a:pPr marL="0" indent="0">
              <a:buNone/>
            </a:pPr>
            <a:r>
              <a:rPr lang="en-US" sz="950" dirty="0">
                <a:solidFill>
                  <a:srgbClr val="4A5568"/>
                </a:solidFill>
              </a:rPr>
              <a:t>Registers or logs in to proceed with booking</a:t>
            </a:r>
            <a:endParaRPr lang="en-US" sz="950" dirty="0"/>
          </a:p>
        </p:txBody>
      </p:sp>
      <p:sp>
        <p:nvSpPr>
          <p:cNvPr id="39" name="Shape 37"/>
          <p:cNvSpPr/>
          <p:nvPr/>
        </p:nvSpPr>
        <p:spPr>
          <a:xfrm>
            <a:off x="4617720" y="4270248"/>
            <a:ext cx="219456" cy="219456"/>
          </a:xfrm>
          <a:prstGeom prst="ellipse">
            <a:avLst/>
          </a:prstGeom>
          <a:solidFill>
            <a:srgbClr val="E05C41"/>
          </a:solidFill>
          <a:ln w="12700">
            <a:solidFill>
              <a:srgbClr val="E05C41"/>
            </a:solidFill>
            <a:prstDash val="solid"/>
          </a:ln>
        </p:spPr>
      </p:sp>
      <p:sp>
        <p:nvSpPr>
          <p:cNvPr id="40" name="Text 38"/>
          <p:cNvSpPr/>
          <p:nvPr/>
        </p:nvSpPr>
        <p:spPr>
          <a:xfrm>
            <a:off x="4617720" y="4270248"/>
            <a:ext cx="219456" cy="219456"/>
          </a:xfrm>
          <a:prstGeom prst="rect">
            <a:avLst/>
          </a:prstGeom>
          <a:noFill/>
          <a:ln/>
        </p:spPr>
        <p:txBody>
          <a:bodyPr wrap="square" rtlCol="0" anchor="ctr"/>
          <a:lstStyle/>
          <a:p>
            <a:pPr marL="0" indent="0" algn="ctr">
              <a:buNone/>
            </a:pPr>
            <a:r>
              <a:rPr lang="en-US" sz="800" b="1" dirty="0">
                <a:solidFill>
                  <a:srgbClr val="FFFFFF"/>
                </a:solidFill>
              </a:rPr>
              <a:t>4</a:t>
            </a:r>
            <a:endParaRPr lang="en-US" sz="800" dirty="0"/>
          </a:p>
        </p:txBody>
      </p:sp>
      <p:sp>
        <p:nvSpPr>
          <p:cNvPr id="41" name="Text 39"/>
          <p:cNvSpPr/>
          <p:nvPr/>
        </p:nvSpPr>
        <p:spPr>
          <a:xfrm>
            <a:off x="4892040" y="4270248"/>
            <a:ext cx="3840480" cy="237744"/>
          </a:xfrm>
          <a:prstGeom prst="rect">
            <a:avLst/>
          </a:prstGeom>
          <a:noFill/>
          <a:ln/>
        </p:spPr>
        <p:txBody>
          <a:bodyPr wrap="square" rtlCol="0" anchor="ctr"/>
          <a:lstStyle/>
          <a:p>
            <a:pPr marL="0" indent="0">
              <a:buNone/>
            </a:pPr>
            <a:r>
              <a:rPr lang="en-US" sz="950" dirty="0">
                <a:solidFill>
                  <a:srgbClr val="4A5568"/>
                </a:solidFill>
              </a:rPr>
              <a:t>Fills in booking details and confirms the appointment</a:t>
            </a:r>
            <a:endParaRPr lang="en-US" sz="950" dirty="0"/>
          </a:p>
        </p:txBody>
      </p:sp>
      <p:sp>
        <p:nvSpPr>
          <p:cNvPr id="42" name="Shape 40"/>
          <p:cNvSpPr/>
          <p:nvPr/>
        </p:nvSpPr>
        <p:spPr>
          <a:xfrm>
            <a:off x="4617720" y="4544568"/>
            <a:ext cx="219456" cy="219456"/>
          </a:xfrm>
          <a:prstGeom prst="ellipse">
            <a:avLst/>
          </a:prstGeom>
          <a:solidFill>
            <a:srgbClr val="E05C41"/>
          </a:solidFill>
          <a:ln w="12700">
            <a:solidFill>
              <a:srgbClr val="E05C41"/>
            </a:solidFill>
            <a:prstDash val="solid"/>
          </a:ln>
        </p:spPr>
      </p:sp>
      <p:sp>
        <p:nvSpPr>
          <p:cNvPr id="43" name="Text 41"/>
          <p:cNvSpPr/>
          <p:nvPr/>
        </p:nvSpPr>
        <p:spPr>
          <a:xfrm>
            <a:off x="4617720" y="4544568"/>
            <a:ext cx="219456" cy="219456"/>
          </a:xfrm>
          <a:prstGeom prst="rect">
            <a:avLst/>
          </a:prstGeom>
          <a:noFill/>
          <a:ln/>
        </p:spPr>
        <p:txBody>
          <a:bodyPr wrap="square" rtlCol="0" anchor="ctr"/>
          <a:lstStyle/>
          <a:p>
            <a:pPr marL="0" indent="0" algn="ctr">
              <a:buNone/>
            </a:pPr>
            <a:r>
              <a:rPr lang="en-US" sz="800" b="1" dirty="0">
                <a:solidFill>
                  <a:srgbClr val="FFFFFF"/>
                </a:solidFill>
              </a:rPr>
              <a:t>5</a:t>
            </a:r>
            <a:endParaRPr lang="en-US" sz="800" dirty="0"/>
          </a:p>
        </p:txBody>
      </p:sp>
      <p:sp>
        <p:nvSpPr>
          <p:cNvPr id="44" name="Text 42"/>
          <p:cNvSpPr/>
          <p:nvPr/>
        </p:nvSpPr>
        <p:spPr>
          <a:xfrm>
            <a:off x="4892040" y="4544568"/>
            <a:ext cx="3840480" cy="237744"/>
          </a:xfrm>
          <a:prstGeom prst="rect">
            <a:avLst/>
          </a:prstGeom>
          <a:noFill/>
          <a:ln/>
        </p:spPr>
        <p:txBody>
          <a:bodyPr wrap="square" rtlCol="0" anchor="ctr"/>
          <a:lstStyle/>
          <a:p>
            <a:pPr marL="0" indent="0">
              <a:buNone/>
            </a:pPr>
            <a:r>
              <a:rPr lang="en-US" sz="950" dirty="0">
                <a:solidFill>
                  <a:srgbClr val="4A5568"/>
                </a:solidFill>
              </a:rPr>
              <a:t>Tracks booking status from their personal dashboard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05C41"/>
          </a:solidFill>
          <a:ln w="12700">
            <a:solidFill>
              <a:srgbClr val="E05C41"/>
            </a:solidFill>
            <a:prstDash val="solid"/>
          </a:ln>
        </p:spPr>
      </p:sp>
      <p:sp>
        <p:nvSpPr>
          <p:cNvPr id="3" name="Text 1"/>
          <p:cNvSpPr/>
          <p:nvPr/>
        </p:nvSpPr>
        <p:spPr>
          <a:xfrm>
            <a:off x="457200" y="73152"/>
            <a:ext cx="5486400" cy="347472"/>
          </a:xfrm>
          <a:prstGeom prst="rect">
            <a:avLst/>
          </a:prstGeom>
          <a:noFill/>
          <a:ln/>
        </p:spPr>
        <p:txBody>
          <a:bodyPr wrap="square" rtlCol="0" anchor="ctr"/>
          <a:lstStyle/>
          <a:p>
            <a:pPr marL="0" indent="0">
              <a:buNone/>
            </a:pPr>
            <a:r>
              <a:rPr lang="en-US" sz="900" b="1" kern="0" spc="200" dirty="0">
                <a:solidFill>
                  <a:srgbClr val="FFF1E6"/>
                </a:solidFill>
              </a:rPr>
              <a:t>07  /  Backend Design</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1900" b="1" dirty="0">
                <a:solidFill>
                  <a:srgbClr val="FFFFFF"/>
                </a:solidFill>
              </a:rPr>
              <a:t>Server-Side Logic — How the Application Works Behind the Scenes</a:t>
            </a:r>
            <a:endParaRPr lang="en-US" sz="1900" dirty="0"/>
          </a:p>
        </p:txBody>
      </p:sp>
      <p:sp>
        <p:nvSpPr>
          <p:cNvPr id="5" name="Shape 3"/>
          <p:cNvSpPr/>
          <p:nvPr/>
        </p:nvSpPr>
        <p:spPr>
          <a:xfrm>
            <a:off x="274320" y="1078992"/>
            <a:ext cx="2606040" cy="3840480"/>
          </a:xfrm>
          <a:prstGeom prst="rect">
            <a:avLst/>
          </a:prstGeom>
          <a:solidFill>
            <a:srgbClr val="1B2A4A"/>
          </a:solidFill>
          <a:ln w="12700">
            <a:solidFill>
              <a:srgbClr val="1B2A4A"/>
            </a:solidFill>
            <a:prstDash val="solid"/>
          </a:ln>
          <a:effectLst>
            <a:outerShdw blurRad="177800" dist="50800" dir="8100000" algn="bl" rotWithShape="0">
              <a:srgbClr val="000000">
                <a:alpha val="7000"/>
              </a:srgbClr>
            </a:outerShdw>
          </a:effectLst>
        </p:spPr>
      </p:sp>
      <p:sp>
        <p:nvSpPr>
          <p:cNvPr id="6" name="Text 4"/>
          <p:cNvSpPr/>
          <p:nvPr/>
        </p:nvSpPr>
        <p:spPr>
          <a:xfrm>
            <a:off x="384048" y="1170432"/>
            <a:ext cx="2377440" cy="320040"/>
          </a:xfrm>
          <a:prstGeom prst="rect">
            <a:avLst/>
          </a:prstGeom>
          <a:noFill/>
          <a:ln/>
        </p:spPr>
        <p:txBody>
          <a:bodyPr wrap="square" rtlCol="0" anchor="ctr"/>
          <a:lstStyle/>
          <a:p>
            <a:pPr marL="0" indent="0">
              <a:buNone/>
            </a:pPr>
            <a:r>
              <a:rPr lang="en-US" sz="1100" b="1" dirty="0">
                <a:solidFill>
                  <a:srgbClr val="F4A261"/>
                </a:solidFill>
              </a:rPr>
              <a:t>Technologies Used</a:t>
            </a:r>
            <a:endParaRPr lang="en-US" sz="1100" dirty="0"/>
          </a:p>
        </p:txBody>
      </p:sp>
      <p:sp>
        <p:nvSpPr>
          <p:cNvPr id="7" name="Text 5"/>
          <p:cNvSpPr/>
          <p:nvPr/>
        </p:nvSpPr>
        <p:spPr>
          <a:xfrm>
            <a:off x="384048" y="1591056"/>
            <a:ext cx="2377440" cy="219456"/>
          </a:xfrm>
          <a:prstGeom prst="rect">
            <a:avLst/>
          </a:prstGeom>
          <a:noFill/>
          <a:ln/>
        </p:spPr>
        <p:txBody>
          <a:bodyPr wrap="square" rtlCol="0" anchor="ctr"/>
          <a:lstStyle/>
          <a:p>
            <a:pPr marL="0" indent="0">
              <a:buNone/>
            </a:pPr>
            <a:r>
              <a:rPr lang="en-US" sz="1000" b="1" dirty="0">
                <a:solidFill>
                  <a:srgbClr val="F4A261"/>
                </a:solidFill>
              </a:rPr>
              <a:t>Node.js</a:t>
            </a:r>
            <a:endParaRPr lang="en-US" sz="1000" dirty="0"/>
          </a:p>
        </p:txBody>
      </p:sp>
      <p:sp>
        <p:nvSpPr>
          <p:cNvPr id="8" name="Text 6"/>
          <p:cNvSpPr/>
          <p:nvPr/>
        </p:nvSpPr>
        <p:spPr>
          <a:xfrm>
            <a:off x="384048" y="1810512"/>
            <a:ext cx="2377440" cy="201168"/>
          </a:xfrm>
          <a:prstGeom prst="rect">
            <a:avLst/>
          </a:prstGeom>
          <a:noFill/>
          <a:ln/>
        </p:spPr>
        <p:txBody>
          <a:bodyPr wrap="square" rtlCol="0" anchor="ctr"/>
          <a:lstStyle/>
          <a:p>
            <a:pPr marL="0" indent="0">
              <a:buNone/>
            </a:pPr>
            <a:r>
              <a:rPr lang="en-US" sz="850" dirty="0">
                <a:solidFill>
                  <a:srgbClr val="8FAEC5"/>
                </a:solidFill>
              </a:rPr>
              <a:t>The environment that runs JavaScript on the server</a:t>
            </a:r>
            <a:endParaRPr lang="en-US" sz="850" dirty="0"/>
          </a:p>
        </p:txBody>
      </p:sp>
      <p:sp>
        <p:nvSpPr>
          <p:cNvPr id="9" name="Text 7"/>
          <p:cNvSpPr/>
          <p:nvPr/>
        </p:nvSpPr>
        <p:spPr>
          <a:xfrm>
            <a:off x="384048" y="2039112"/>
            <a:ext cx="2377440" cy="219456"/>
          </a:xfrm>
          <a:prstGeom prst="rect">
            <a:avLst/>
          </a:prstGeom>
          <a:noFill/>
          <a:ln/>
        </p:spPr>
        <p:txBody>
          <a:bodyPr wrap="square" rtlCol="0" anchor="ctr"/>
          <a:lstStyle/>
          <a:p>
            <a:pPr marL="0" indent="0">
              <a:buNone/>
            </a:pPr>
            <a:r>
              <a:rPr lang="en-US" sz="1000" b="1" dirty="0">
                <a:solidFill>
                  <a:srgbClr val="F4A261"/>
                </a:solidFill>
              </a:rPr>
              <a:t>Express.js</a:t>
            </a:r>
            <a:endParaRPr lang="en-US" sz="1000" dirty="0"/>
          </a:p>
        </p:txBody>
      </p:sp>
      <p:sp>
        <p:nvSpPr>
          <p:cNvPr id="10" name="Text 8"/>
          <p:cNvSpPr/>
          <p:nvPr/>
        </p:nvSpPr>
        <p:spPr>
          <a:xfrm>
            <a:off x="384048" y="2258568"/>
            <a:ext cx="2377440" cy="201168"/>
          </a:xfrm>
          <a:prstGeom prst="rect">
            <a:avLst/>
          </a:prstGeom>
          <a:noFill/>
          <a:ln/>
        </p:spPr>
        <p:txBody>
          <a:bodyPr wrap="square" rtlCol="0" anchor="ctr"/>
          <a:lstStyle/>
          <a:p>
            <a:pPr marL="0" indent="0">
              <a:buNone/>
            </a:pPr>
            <a:r>
              <a:rPr lang="en-US" sz="850" dirty="0">
                <a:solidFill>
                  <a:srgbClr val="8FAEC5"/>
                </a:solidFill>
              </a:rPr>
              <a:t>A framework that makes it easy to create server routes and handle requests</a:t>
            </a:r>
            <a:endParaRPr lang="en-US" sz="850" dirty="0"/>
          </a:p>
        </p:txBody>
      </p:sp>
      <p:sp>
        <p:nvSpPr>
          <p:cNvPr id="11" name="Text 9"/>
          <p:cNvSpPr/>
          <p:nvPr/>
        </p:nvSpPr>
        <p:spPr>
          <a:xfrm>
            <a:off x="384048" y="2487168"/>
            <a:ext cx="2377440" cy="219456"/>
          </a:xfrm>
          <a:prstGeom prst="rect">
            <a:avLst/>
          </a:prstGeom>
          <a:noFill/>
          <a:ln/>
        </p:spPr>
        <p:txBody>
          <a:bodyPr wrap="square" rtlCol="0" anchor="ctr"/>
          <a:lstStyle/>
          <a:p>
            <a:pPr marL="0" indent="0">
              <a:buNone/>
            </a:pPr>
            <a:r>
              <a:rPr lang="en-US" sz="1000" b="1" dirty="0">
                <a:solidFill>
                  <a:srgbClr val="F4A261"/>
                </a:solidFill>
              </a:rPr>
              <a:t>JWT</a:t>
            </a:r>
            <a:endParaRPr lang="en-US" sz="1000" dirty="0"/>
          </a:p>
        </p:txBody>
      </p:sp>
      <p:sp>
        <p:nvSpPr>
          <p:cNvPr id="12" name="Text 10"/>
          <p:cNvSpPr/>
          <p:nvPr/>
        </p:nvSpPr>
        <p:spPr>
          <a:xfrm>
            <a:off x="384048" y="2706624"/>
            <a:ext cx="2377440" cy="201168"/>
          </a:xfrm>
          <a:prstGeom prst="rect">
            <a:avLst/>
          </a:prstGeom>
          <a:noFill/>
          <a:ln/>
        </p:spPr>
        <p:txBody>
          <a:bodyPr wrap="square" rtlCol="0" anchor="ctr"/>
          <a:lstStyle/>
          <a:p>
            <a:pPr marL="0" indent="0">
              <a:buNone/>
            </a:pPr>
            <a:r>
              <a:rPr lang="en-US" sz="850" dirty="0">
                <a:solidFill>
                  <a:srgbClr val="8FAEC5"/>
                </a:solidFill>
              </a:rPr>
              <a:t>Creates secure login tokens so users stay signed in safely</a:t>
            </a:r>
            <a:endParaRPr lang="en-US" sz="850" dirty="0"/>
          </a:p>
        </p:txBody>
      </p:sp>
      <p:sp>
        <p:nvSpPr>
          <p:cNvPr id="13" name="Text 11"/>
          <p:cNvSpPr/>
          <p:nvPr/>
        </p:nvSpPr>
        <p:spPr>
          <a:xfrm>
            <a:off x="384048" y="2935224"/>
            <a:ext cx="2377440" cy="219456"/>
          </a:xfrm>
          <a:prstGeom prst="rect">
            <a:avLst/>
          </a:prstGeom>
          <a:noFill/>
          <a:ln/>
        </p:spPr>
        <p:txBody>
          <a:bodyPr wrap="square" rtlCol="0" anchor="ctr"/>
          <a:lstStyle/>
          <a:p>
            <a:pPr marL="0" indent="0">
              <a:buNone/>
            </a:pPr>
            <a:r>
              <a:rPr lang="en-US" sz="1000" b="1" dirty="0">
                <a:solidFill>
                  <a:srgbClr val="F4A261"/>
                </a:solidFill>
              </a:rPr>
              <a:t>Bcrypt</a:t>
            </a:r>
            <a:endParaRPr lang="en-US" sz="1000" dirty="0"/>
          </a:p>
        </p:txBody>
      </p:sp>
      <p:sp>
        <p:nvSpPr>
          <p:cNvPr id="14" name="Text 12"/>
          <p:cNvSpPr/>
          <p:nvPr/>
        </p:nvSpPr>
        <p:spPr>
          <a:xfrm>
            <a:off x="384048" y="3154680"/>
            <a:ext cx="2377440" cy="201168"/>
          </a:xfrm>
          <a:prstGeom prst="rect">
            <a:avLst/>
          </a:prstGeom>
          <a:noFill/>
          <a:ln/>
        </p:spPr>
        <p:txBody>
          <a:bodyPr wrap="square" rtlCol="0" anchor="ctr"/>
          <a:lstStyle/>
          <a:p>
            <a:pPr marL="0" indent="0">
              <a:buNone/>
            </a:pPr>
            <a:r>
              <a:rPr lang="en-US" sz="850" dirty="0">
                <a:solidFill>
                  <a:srgbClr val="8FAEC5"/>
                </a:solidFill>
              </a:rPr>
              <a:t>Encrypts passwords before saving them so they remain private</a:t>
            </a:r>
            <a:endParaRPr lang="en-US" sz="850" dirty="0"/>
          </a:p>
        </p:txBody>
      </p:sp>
      <p:sp>
        <p:nvSpPr>
          <p:cNvPr id="15" name="Text 13"/>
          <p:cNvSpPr/>
          <p:nvPr/>
        </p:nvSpPr>
        <p:spPr>
          <a:xfrm>
            <a:off x="384048" y="3383280"/>
            <a:ext cx="2377440" cy="219456"/>
          </a:xfrm>
          <a:prstGeom prst="rect">
            <a:avLst/>
          </a:prstGeom>
          <a:noFill/>
          <a:ln/>
        </p:spPr>
        <p:txBody>
          <a:bodyPr wrap="square" rtlCol="0" anchor="ctr"/>
          <a:lstStyle/>
          <a:p>
            <a:pPr marL="0" indent="0">
              <a:buNone/>
            </a:pPr>
            <a:r>
              <a:rPr lang="en-US" sz="1000" b="1" dirty="0">
                <a:solidFill>
                  <a:srgbClr val="F4A261"/>
                </a:solidFill>
              </a:rPr>
              <a:t>Multer</a:t>
            </a:r>
            <a:endParaRPr lang="en-US" sz="1000" dirty="0"/>
          </a:p>
        </p:txBody>
      </p:sp>
      <p:sp>
        <p:nvSpPr>
          <p:cNvPr id="16" name="Text 14"/>
          <p:cNvSpPr/>
          <p:nvPr/>
        </p:nvSpPr>
        <p:spPr>
          <a:xfrm>
            <a:off x="384048" y="3602736"/>
            <a:ext cx="2377440" cy="201168"/>
          </a:xfrm>
          <a:prstGeom prst="rect">
            <a:avLst/>
          </a:prstGeom>
          <a:noFill/>
          <a:ln/>
        </p:spPr>
        <p:txBody>
          <a:bodyPr wrap="square" rtlCol="0" anchor="ctr"/>
          <a:lstStyle/>
          <a:p>
            <a:pPr marL="0" indent="0">
              <a:buNone/>
            </a:pPr>
            <a:r>
              <a:rPr lang="en-US" sz="850" dirty="0">
                <a:solidFill>
                  <a:srgbClr val="8FAEC5"/>
                </a:solidFill>
              </a:rPr>
              <a:t>Handles file and image uploads from the user's device</a:t>
            </a:r>
            <a:endParaRPr lang="en-US" sz="850" dirty="0"/>
          </a:p>
        </p:txBody>
      </p:sp>
      <p:sp>
        <p:nvSpPr>
          <p:cNvPr id="17" name="Text 15"/>
          <p:cNvSpPr/>
          <p:nvPr/>
        </p:nvSpPr>
        <p:spPr>
          <a:xfrm>
            <a:off x="384048" y="3831336"/>
            <a:ext cx="2377440" cy="219456"/>
          </a:xfrm>
          <a:prstGeom prst="rect">
            <a:avLst/>
          </a:prstGeom>
          <a:noFill/>
          <a:ln/>
        </p:spPr>
        <p:txBody>
          <a:bodyPr wrap="square" rtlCol="0" anchor="ctr"/>
          <a:lstStyle/>
          <a:p>
            <a:pPr marL="0" indent="0">
              <a:buNone/>
            </a:pPr>
            <a:r>
              <a:rPr lang="en-US" sz="1000" b="1" dirty="0">
                <a:solidFill>
                  <a:srgbClr val="F4A261"/>
                </a:solidFill>
              </a:rPr>
              <a:t>Cloudinary</a:t>
            </a:r>
            <a:endParaRPr lang="en-US" sz="1000" dirty="0"/>
          </a:p>
        </p:txBody>
      </p:sp>
      <p:sp>
        <p:nvSpPr>
          <p:cNvPr id="18" name="Text 16"/>
          <p:cNvSpPr/>
          <p:nvPr/>
        </p:nvSpPr>
        <p:spPr>
          <a:xfrm>
            <a:off x="384048" y="4050792"/>
            <a:ext cx="2377440" cy="201168"/>
          </a:xfrm>
          <a:prstGeom prst="rect">
            <a:avLst/>
          </a:prstGeom>
          <a:noFill/>
          <a:ln/>
        </p:spPr>
        <p:txBody>
          <a:bodyPr wrap="square" rtlCol="0" anchor="ctr"/>
          <a:lstStyle/>
          <a:p>
            <a:pPr marL="0" indent="0">
              <a:buNone/>
            </a:pPr>
            <a:r>
              <a:rPr lang="en-US" sz="850" dirty="0">
                <a:solidFill>
                  <a:srgbClr val="8FAEC5"/>
                </a:solidFill>
              </a:rPr>
              <a:t>Stores uploaded images on the cloud for fast delivery</a:t>
            </a:r>
            <a:endParaRPr lang="en-US" sz="850" dirty="0"/>
          </a:p>
        </p:txBody>
      </p:sp>
      <p:sp>
        <p:nvSpPr>
          <p:cNvPr id="19" name="Text 17"/>
          <p:cNvSpPr/>
          <p:nvPr/>
        </p:nvSpPr>
        <p:spPr>
          <a:xfrm>
            <a:off x="384048" y="4279392"/>
            <a:ext cx="2377440" cy="219456"/>
          </a:xfrm>
          <a:prstGeom prst="rect">
            <a:avLst/>
          </a:prstGeom>
          <a:noFill/>
          <a:ln/>
        </p:spPr>
        <p:txBody>
          <a:bodyPr wrap="square" rtlCol="0" anchor="ctr"/>
          <a:lstStyle/>
          <a:p>
            <a:pPr marL="0" indent="0">
              <a:buNone/>
            </a:pPr>
            <a:r>
              <a:rPr lang="en-US" sz="1000" b="1" dirty="0">
                <a:solidFill>
                  <a:srgbClr val="F4A261"/>
                </a:solidFill>
              </a:rPr>
              <a:t>dotenv / CORS</a:t>
            </a:r>
            <a:endParaRPr lang="en-US" sz="1000" dirty="0"/>
          </a:p>
        </p:txBody>
      </p:sp>
      <p:sp>
        <p:nvSpPr>
          <p:cNvPr id="20" name="Text 18"/>
          <p:cNvSpPr/>
          <p:nvPr/>
        </p:nvSpPr>
        <p:spPr>
          <a:xfrm>
            <a:off x="384048" y="4498848"/>
            <a:ext cx="2377440" cy="201168"/>
          </a:xfrm>
          <a:prstGeom prst="rect">
            <a:avLst/>
          </a:prstGeom>
          <a:noFill/>
          <a:ln/>
        </p:spPr>
        <p:txBody>
          <a:bodyPr wrap="square" rtlCol="0" anchor="ctr"/>
          <a:lstStyle/>
          <a:p>
            <a:pPr marL="0" indent="0">
              <a:buNone/>
            </a:pPr>
            <a:r>
              <a:rPr lang="en-US" sz="850" dirty="0">
                <a:solidFill>
                  <a:srgbClr val="8FAEC5"/>
                </a:solidFill>
              </a:rPr>
              <a:t>Manages environment settings and allows safe cross-origin requests</a:t>
            </a:r>
            <a:endParaRPr lang="en-US" sz="850" dirty="0"/>
          </a:p>
        </p:txBody>
      </p:sp>
      <p:sp>
        <p:nvSpPr>
          <p:cNvPr id="21" name="Shape 19"/>
          <p:cNvSpPr/>
          <p:nvPr/>
        </p:nvSpPr>
        <p:spPr>
          <a:xfrm>
            <a:off x="3017520" y="1078992"/>
            <a:ext cx="2834640" cy="384048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22" name="Text 20"/>
          <p:cNvSpPr/>
          <p:nvPr/>
        </p:nvSpPr>
        <p:spPr>
          <a:xfrm>
            <a:off x="3127248" y="1170432"/>
            <a:ext cx="2615184" cy="347472"/>
          </a:xfrm>
          <a:prstGeom prst="rect">
            <a:avLst/>
          </a:prstGeom>
          <a:noFill/>
          <a:ln/>
        </p:spPr>
        <p:txBody>
          <a:bodyPr wrap="square" rtlCol="0" anchor="ctr"/>
          <a:lstStyle/>
          <a:p>
            <a:pPr marL="0" indent="0">
              <a:buNone/>
            </a:pPr>
            <a:r>
              <a:rPr lang="en-US" sz="1100" b="1" dirty="0">
                <a:solidFill>
                  <a:srgbClr val="1B2A4A"/>
                </a:solidFill>
              </a:rPr>
              <a:t>How the Application Handles Requests</a:t>
            </a:r>
            <a:endParaRPr lang="en-US" sz="1100" dirty="0"/>
          </a:p>
        </p:txBody>
      </p:sp>
      <p:sp>
        <p:nvSpPr>
          <p:cNvPr id="23" name="Shape 21"/>
          <p:cNvSpPr/>
          <p:nvPr/>
        </p:nvSpPr>
        <p:spPr>
          <a:xfrm>
            <a:off x="3127248" y="1609344"/>
            <a:ext cx="2615184" cy="685800"/>
          </a:xfrm>
          <a:prstGeom prst="rect">
            <a:avLst/>
          </a:prstGeom>
          <a:solidFill>
            <a:srgbClr val="FDF6F0"/>
          </a:solidFill>
          <a:ln w="12700">
            <a:solidFill>
              <a:srgbClr val="E2E8F0"/>
            </a:solidFill>
            <a:prstDash val="solid"/>
          </a:ln>
        </p:spPr>
      </p:sp>
      <p:sp>
        <p:nvSpPr>
          <p:cNvPr id="24" name="Text 22"/>
          <p:cNvSpPr/>
          <p:nvPr/>
        </p:nvSpPr>
        <p:spPr>
          <a:xfrm>
            <a:off x="3218688" y="1645920"/>
            <a:ext cx="2432304" cy="219456"/>
          </a:xfrm>
          <a:prstGeom prst="rect">
            <a:avLst/>
          </a:prstGeom>
          <a:noFill/>
          <a:ln/>
        </p:spPr>
        <p:txBody>
          <a:bodyPr wrap="square" rtlCol="0" anchor="ctr"/>
          <a:lstStyle/>
          <a:p>
            <a:pPr marL="0" indent="0">
              <a:buNone/>
            </a:pPr>
            <a:r>
              <a:rPr lang="en-US" sz="950" b="1" dirty="0">
                <a:solidFill>
                  <a:srgbClr val="E05C41"/>
                </a:solidFill>
              </a:rPr>
              <a:t>User Registration &amp; Login</a:t>
            </a:r>
            <a:endParaRPr lang="en-US" sz="950" dirty="0"/>
          </a:p>
        </p:txBody>
      </p:sp>
      <p:sp>
        <p:nvSpPr>
          <p:cNvPr id="25" name="Text 23"/>
          <p:cNvSpPr/>
          <p:nvPr/>
        </p:nvSpPr>
        <p:spPr>
          <a:xfrm>
            <a:off x="3218688" y="1865376"/>
            <a:ext cx="2432304" cy="402336"/>
          </a:xfrm>
          <a:prstGeom prst="rect">
            <a:avLst/>
          </a:prstGeom>
          <a:noFill/>
          <a:ln/>
        </p:spPr>
        <p:txBody>
          <a:bodyPr wrap="square" rtlCol="0" anchor="ctr"/>
          <a:lstStyle/>
          <a:p>
            <a:pPr marL="0" indent="0">
              <a:buNone/>
            </a:pPr>
            <a:r>
              <a:rPr lang="en-US" sz="850" dirty="0">
                <a:solidFill>
                  <a:srgbClr val="4A5568"/>
                </a:solidFill>
              </a:rPr>
              <a:t>When a user signs up, their password is encrypted before being saved. On login, the system verifies the password and issues a token that acts as a digital key for accessing protected pages.</a:t>
            </a:r>
            <a:endParaRPr lang="en-US" sz="850" dirty="0"/>
          </a:p>
        </p:txBody>
      </p:sp>
      <p:sp>
        <p:nvSpPr>
          <p:cNvPr id="26" name="Shape 24"/>
          <p:cNvSpPr/>
          <p:nvPr/>
        </p:nvSpPr>
        <p:spPr>
          <a:xfrm>
            <a:off x="3127248" y="2414016"/>
            <a:ext cx="2615184" cy="685800"/>
          </a:xfrm>
          <a:prstGeom prst="rect">
            <a:avLst/>
          </a:prstGeom>
          <a:solidFill>
            <a:srgbClr val="FDF6F0"/>
          </a:solidFill>
          <a:ln w="12700">
            <a:solidFill>
              <a:srgbClr val="E2E8F0"/>
            </a:solidFill>
            <a:prstDash val="solid"/>
          </a:ln>
        </p:spPr>
      </p:sp>
      <p:sp>
        <p:nvSpPr>
          <p:cNvPr id="27" name="Text 25"/>
          <p:cNvSpPr/>
          <p:nvPr/>
        </p:nvSpPr>
        <p:spPr>
          <a:xfrm>
            <a:off x="3218688" y="2450592"/>
            <a:ext cx="2432304" cy="219456"/>
          </a:xfrm>
          <a:prstGeom prst="rect">
            <a:avLst/>
          </a:prstGeom>
          <a:noFill/>
          <a:ln/>
        </p:spPr>
        <p:txBody>
          <a:bodyPr wrap="square" rtlCol="0" anchor="ctr"/>
          <a:lstStyle/>
          <a:p>
            <a:pPr marL="0" indent="0">
              <a:buNone/>
            </a:pPr>
            <a:r>
              <a:rPr lang="en-US" sz="950" b="1" dirty="0">
                <a:solidFill>
                  <a:srgbClr val="E05C41"/>
                </a:solidFill>
              </a:rPr>
              <a:t>Managing Services</a:t>
            </a:r>
            <a:endParaRPr lang="en-US" sz="950" dirty="0"/>
          </a:p>
        </p:txBody>
      </p:sp>
      <p:sp>
        <p:nvSpPr>
          <p:cNvPr id="28" name="Text 26"/>
          <p:cNvSpPr/>
          <p:nvPr/>
        </p:nvSpPr>
        <p:spPr>
          <a:xfrm>
            <a:off x="3218688" y="2670048"/>
            <a:ext cx="2432304" cy="402336"/>
          </a:xfrm>
          <a:prstGeom prst="rect">
            <a:avLst/>
          </a:prstGeom>
          <a:noFill/>
          <a:ln/>
        </p:spPr>
        <p:txBody>
          <a:bodyPr wrap="square" rtlCol="0" anchor="ctr"/>
          <a:lstStyle/>
          <a:p>
            <a:pPr marL="0" indent="0">
              <a:buNone/>
            </a:pPr>
            <a:r>
              <a:rPr lang="en-US" sz="850" dirty="0">
                <a:solidFill>
                  <a:srgbClr val="4A5568"/>
                </a:solidFill>
              </a:rPr>
              <a:t>Only registered providers can create, update, or delete their services. Anyone can browse and view services without needing to log in.</a:t>
            </a:r>
            <a:endParaRPr lang="en-US" sz="850" dirty="0"/>
          </a:p>
        </p:txBody>
      </p:sp>
      <p:sp>
        <p:nvSpPr>
          <p:cNvPr id="29" name="Shape 27"/>
          <p:cNvSpPr/>
          <p:nvPr/>
        </p:nvSpPr>
        <p:spPr>
          <a:xfrm>
            <a:off x="3127248" y="3218688"/>
            <a:ext cx="2615184" cy="685800"/>
          </a:xfrm>
          <a:prstGeom prst="rect">
            <a:avLst/>
          </a:prstGeom>
          <a:solidFill>
            <a:srgbClr val="FDF6F0"/>
          </a:solidFill>
          <a:ln w="12700">
            <a:solidFill>
              <a:srgbClr val="E2E8F0"/>
            </a:solidFill>
            <a:prstDash val="solid"/>
          </a:ln>
        </p:spPr>
      </p:sp>
      <p:sp>
        <p:nvSpPr>
          <p:cNvPr id="30" name="Text 28"/>
          <p:cNvSpPr/>
          <p:nvPr/>
        </p:nvSpPr>
        <p:spPr>
          <a:xfrm>
            <a:off x="3218688" y="3255264"/>
            <a:ext cx="2432304" cy="219456"/>
          </a:xfrm>
          <a:prstGeom prst="rect">
            <a:avLst/>
          </a:prstGeom>
          <a:noFill/>
          <a:ln/>
        </p:spPr>
        <p:txBody>
          <a:bodyPr wrap="square" rtlCol="0" anchor="ctr"/>
          <a:lstStyle/>
          <a:p>
            <a:pPr marL="0" indent="0">
              <a:buNone/>
            </a:pPr>
            <a:r>
              <a:rPr lang="en-US" sz="950" b="1" dirty="0">
                <a:solidFill>
                  <a:srgbClr val="E05C41"/>
                </a:solidFill>
              </a:rPr>
              <a:t>Booking Workflow</a:t>
            </a:r>
            <a:endParaRPr lang="en-US" sz="950" dirty="0"/>
          </a:p>
        </p:txBody>
      </p:sp>
      <p:sp>
        <p:nvSpPr>
          <p:cNvPr id="31" name="Text 29"/>
          <p:cNvSpPr/>
          <p:nvPr/>
        </p:nvSpPr>
        <p:spPr>
          <a:xfrm>
            <a:off x="3218688" y="3474720"/>
            <a:ext cx="2432304" cy="402336"/>
          </a:xfrm>
          <a:prstGeom prst="rect">
            <a:avLst/>
          </a:prstGeom>
          <a:noFill/>
          <a:ln/>
        </p:spPr>
        <p:txBody>
          <a:bodyPr wrap="square" rtlCol="0" anchor="ctr"/>
          <a:lstStyle/>
          <a:p>
            <a:pPr marL="0" indent="0">
              <a:buNone/>
            </a:pPr>
            <a:r>
              <a:rPr lang="en-US" sz="850" dirty="0">
                <a:solidFill>
                  <a:srgbClr val="4A5568"/>
                </a:solidFill>
              </a:rPr>
              <a:t>A client books a service and the request is saved as 'Pending'. The provider then reviews it and either accepts, rejects, or marks it as completed.</a:t>
            </a:r>
            <a:endParaRPr lang="en-US" sz="850" dirty="0"/>
          </a:p>
        </p:txBody>
      </p:sp>
      <p:sp>
        <p:nvSpPr>
          <p:cNvPr id="32" name="Shape 30"/>
          <p:cNvSpPr/>
          <p:nvPr/>
        </p:nvSpPr>
        <p:spPr>
          <a:xfrm>
            <a:off x="3127248" y="4023360"/>
            <a:ext cx="2615184" cy="685800"/>
          </a:xfrm>
          <a:prstGeom prst="rect">
            <a:avLst/>
          </a:prstGeom>
          <a:solidFill>
            <a:srgbClr val="FDF6F0"/>
          </a:solidFill>
          <a:ln w="12700">
            <a:solidFill>
              <a:srgbClr val="E2E8F0"/>
            </a:solidFill>
            <a:prstDash val="solid"/>
          </a:ln>
        </p:spPr>
      </p:sp>
      <p:sp>
        <p:nvSpPr>
          <p:cNvPr id="33" name="Text 31"/>
          <p:cNvSpPr/>
          <p:nvPr/>
        </p:nvSpPr>
        <p:spPr>
          <a:xfrm>
            <a:off x="3218688" y="4059936"/>
            <a:ext cx="2432304" cy="219456"/>
          </a:xfrm>
          <a:prstGeom prst="rect">
            <a:avLst/>
          </a:prstGeom>
          <a:noFill/>
          <a:ln/>
        </p:spPr>
        <p:txBody>
          <a:bodyPr wrap="square" rtlCol="0" anchor="ctr"/>
          <a:lstStyle/>
          <a:p>
            <a:pPr marL="0" indent="0">
              <a:buNone/>
            </a:pPr>
            <a:r>
              <a:rPr lang="en-US" sz="950" b="1" dirty="0">
                <a:solidFill>
                  <a:srgbClr val="E05C41"/>
                </a:solidFill>
              </a:rPr>
              <a:t>Access Control</a:t>
            </a:r>
            <a:endParaRPr lang="en-US" sz="950" dirty="0"/>
          </a:p>
        </p:txBody>
      </p:sp>
      <p:sp>
        <p:nvSpPr>
          <p:cNvPr id="34" name="Text 32"/>
          <p:cNvSpPr/>
          <p:nvPr/>
        </p:nvSpPr>
        <p:spPr>
          <a:xfrm>
            <a:off x="3218688" y="4279392"/>
            <a:ext cx="2432304" cy="402336"/>
          </a:xfrm>
          <a:prstGeom prst="rect">
            <a:avLst/>
          </a:prstGeom>
          <a:noFill/>
          <a:ln/>
        </p:spPr>
        <p:txBody>
          <a:bodyPr wrap="square" rtlCol="0" anchor="ctr"/>
          <a:lstStyle/>
          <a:p>
            <a:pPr marL="0" indent="0">
              <a:buNone/>
            </a:pPr>
            <a:r>
              <a:rPr lang="en-US" sz="850" dirty="0">
                <a:solidFill>
                  <a:srgbClr val="4A5568"/>
                </a:solidFill>
              </a:rPr>
              <a:t>Every protected action (like booking or posting a service) checks whether the user is logged in and has the correct role before allowing access.</a:t>
            </a:r>
            <a:endParaRPr lang="en-US" sz="850" dirty="0"/>
          </a:p>
        </p:txBody>
      </p:sp>
      <p:sp>
        <p:nvSpPr>
          <p:cNvPr id="35" name="Shape 33"/>
          <p:cNvSpPr/>
          <p:nvPr/>
        </p:nvSpPr>
        <p:spPr>
          <a:xfrm>
            <a:off x="5989320" y="1078992"/>
            <a:ext cx="2880360" cy="384048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36" name="Text 34"/>
          <p:cNvSpPr/>
          <p:nvPr/>
        </p:nvSpPr>
        <p:spPr>
          <a:xfrm>
            <a:off x="6108192" y="1170432"/>
            <a:ext cx="2651760" cy="320040"/>
          </a:xfrm>
          <a:prstGeom prst="rect">
            <a:avLst/>
          </a:prstGeom>
          <a:noFill/>
          <a:ln/>
        </p:spPr>
        <p:txBody>
          <a:bodyPr wrap="square" rtlCol="0" anchor="ctr"/>
          <a:lstStyle/>
          <a:p>
            <a:pPr marL="0" indent="0">
              <a:buNone/>
            </a:pPr>
            <a:r>
              <a:rPr lang="en-US" sz="1100" b="1" dirty="0">
                <a:solidFill>
                  <a:srgbClr val="1B2A4A"/>
                </a:solidFill>
              </a:rPr>
              <a:t>Key Server Endpoints</a:t>
            </a:r>
            <a:endParaRPr lang="en-US" sz="1100" dirty="0"/>
          </a:p>
        </p:txBody>
      </p:sp>
      <p:sp>
        <p:nvSpPr>
          <p:cNvPr id="37" name="Shape 35"/>
          <p:cNvSpPr/>
          <p:nvPr/>
        </p:nvSpPr>
        <p:spPr>
          <a:xfrm>
            <a:off x="6108192" y="1591056"/>
            <a:ext cx="530352" cy="228600"/>
          </a:xfrm>
          <a:prstGeom prst="rect">
            <a:avLst/>
          </a:prstGeom>
          <a:solidFill>
            <a:srgbClr val="38B2AC"/>
          </a:solidFill>
          <a:ln w="12700">
            <a:solidFill>
              <a:srgbClr val="38B2AC"/>
            </a:solidFill>
            <a:prstDash val="solid"/>
          </a:ln>
        </p:spPr>
      </p:sp>
      <p:sp>
        <p:nvSpPr>
          <p:cNvPr id="38" name="Text 36"/>
          <p:cNvSpPr/>
          <p:nvPr/>
        </p:nvSpPr>
        <p:spPr>
          <a:xfrm>
            <a:off x="6108192" y="1591056"/>
            <a:ext cx="530352" cy="228600"/>
          </a:xfrm>
          <a:prstGeom prst="rect">
            <a:avLst/>
          </a:prstGeom>
          <a:noFill/>
          <a:ln/>
        </p:spPr>
        <p:txBody>
          <a:bodyPr wrap="square" rtlCol="0" anchor="ctr"/>
          <a:lstStyle/>
          <a:p>
            <a:pPr marL="0" indent="0" algn="ctr">
              <a:buNone/>
            </a:pPr>
            <a:r>
              <a:rPr lang="en-US" sz="750" b="1" dirty="0">
                <a:solidFill>
                  <a:srgbClr val="FFFFFF"/>
                </a:solidFill>
              </a:rPr>
              <a:t>POST</a:t>
            </a:r>
            <a:endParaRPr lang="en-US" sz="750" dirty="0"/>
          </a:p>
        </p:txBody>
      </p:sp>
      <p:sp>
        <p:nvSpPr>
          <p:cNvPr id="39" name="Text 37"/>
          <p:cNvSpPr/>
          <p:nvPr/>
        </p:nvSpPr>
        <p:spPr>
          <a:xfrm>
            <a:off x="6693408" y="1591056"/>
            <a:ext cx="2103120" cy="228600"/>
          </a:xfrm>
          <a:prstGeom prst="rect">
            <a:avLst/>
          </a:prstGeom>
          <a:noFill/>
          <a:ln/>
        </p:spPr>
        <p:txBody>
          <a:bodyPr wrap="square" rtlCol="0" anchor="ctr"/>
          <a:lstStyle/>
          <a:p>
            <a:pPr marL="0" indent="0">
              <a:buNone/>
            </a:pPr>
            <a:r>
              <a:rPr lang="en-US" sz="900" dirty="0">
                <a:solidFill>
                  <a:srgbClr val="1B2A4A"/>
                </a:solidFill>
              </a:rPr>
              <a:t>Register a new user</a:t>
            </a:r>
            <a:endParaRPr lang="en-US" sz="900" dirty="0"/>
          </a:p>
        </p:txBody>
      </p:sp>
      <p:sp>
        <p:nvSpPr>
          <p:cNvPr id="40" name="Text 38"/>
          <p:cNvSpPr/>
          <p:nvPr/>
        </p:nvSpPr>
        <p:spPr>
          <a:xfrm>
            <a:off x="6108192" y="18288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/api/auth/register</a:t>
            </a:r>
            <a:endParaRPr lang="en-US" sz="750" dirty="0"/>
          </a:p>
        </p:txBody>
      </p:sp>
      <p:sp>
        <p:nvSpPr>
          <p:cNvPr id="41" name="Shape 39"/>
          <p:cNvSpPr/>
          <p:nvPr/>
        </p:nvSpPr>
        <p:spPr>
          <a:xfrm>
            <a:off x="6108192" y="2048256"/>
            <a:ext cx="530352" cy="228600"/>
          </a:xfrm>
          <a:prstGeom prst="rect">
            <a:avLst/>
          </a:prstGeom>
          <a:solidFill>
            <a:srgbClr val="38B2AC"/>
          </a:solidFill>
          <a:ln w="12700">
            <a:solidFill>
              <a:srgbClr val="38B2AC"/>
            </a:solidFill>
            <a:prstDash val="solid"/>
          </a:ln>
        </p:spPr>
      </p:sp>
      <p:sp>
        <p:nvSpPr>
          <p:cNvPr id="42" name="Text 40"/>
          <p:cNvSpPr/>
          <p:nvPr/>
        </p:nvSpPr>
        <p:spPr>
          <a:xfrm>
            <a:off x="6108192" y="2048256"/>
            <a:ext cx="530352" cy="228600"/>
          </a:xfrm>
          <a:prstGeom prst="rect">
            <a:avLst/>
          </a:prstGeom>
          <a:noFill/>
          <a:ln/>
        </p:spPr>
        <p:txBody>
          <a:bodyPr wrap="square" rtlCol="0" anchor="ctr"/>
          <a:lstStyle/>
          <a:p>
            <a:pPr marL="0" indent="0" algn="ctr">
              <a:buNone/>
            </a:pPr>
            <a:r>
              <a:rPr lang="en-US" sz="750" b="1" dirty="0">
                <a:solidFill>
                  <a:srgbClr val="FFFFFF"/>
                </a:solidFill>
              </a:rPr>
              <a:t>POST</a:t>
            </a:r>
            <a:endParaRPr lang="en-US" sz="750" dirty="0"/>
          </a:p>
        </p:txBody>
      </p:sp>
      <p:sp>
        <p:nvSpPr>
          <p:cNvPr id="43" name="Text 41"/>
          <p:cNvSpPr/>
          <p:nvPr/>
        </p:nvSpPr>
        <p:spPr>
          <a:xfrm>
            <a:off x="6693408" y="2048256"/>
            <a:ext cx="2103120" cy="228600"/>
          </a:xfrm>
          <a:prstGeom prst="rect">
            <a:avLst/>
          </a:prstGeom>
          <a:noFill/>
          <a:ln/>
        </p:spPr>
        <p:txBody>
          <a:bodyPr wrap="square" rtlCol="0" anchor="ctr"/>
          <a:lstStyle/>
          <a:p>
            <a:pPr marL="0" indent="0">
              <a:buNone/>
            </a:pPr>
            <a:r>
              <a:rPr lang="en-US" sz="900" dirty="0">
                <a:solidFill>
                  <a:srgbClr val="1B2A4A"/>
                </a:solidFill>
              </a:rPr>
              <a:t>Log in and get a token</a:t>
            </a:r>
            <a:endParaRPr lang="en-US" sz="900" dirty="0"/>
          </a:p>
        </p:txBody>
      </p:sp>
      <p:sp>
        <p:nvSpPr>
          <p:cNvPr id="44" name="Text 42"/>
          <p:cNvSpPr/>
          <p:nvPr/>
        </p:nvSpPr>
        <p:spPr>
          <a:xfrm>
            <a:off x="6108192" y="22860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/api/auth/login</a:t>
            </a:r>
            <a:endParaRPr lang="en-US" sz="750" dirty="0"/>
          </a:p>
        </p:txBody>
      </p:sp>
      <p:sp>
        <p:nvSpPr>
          <p:cNvPr id="45" name="Shape 43"/>
          <p:cNvSpPr/>
          <p:nvPr/>
        </p:nvSpPr>
        <p:spPr>
          <a:xfrm>
            <a:off x="6108192" y="2505456"/>
            <a:ext cx="530352" cy="228600"/>
          </a:xfrm>
          <a:prstGeom prst="rect">
            <a:avLst/>
          </a:prstGeom>
          <a:solidFill>
            <a:srgbClr val="000000"/>
          </a:solidFill>
          <a:ln w="12700">
            <a:solidFill>
              <a:srgbClr val="333333"/>
            </a:solidFill>
            <a:prstDash val="solid"/>
          </a:ln>
        </p:spPr>
      </p:sp>
      <p:sp>
        <p:nvSpPr>
          <p:cNvPr id="46" name="Text 44"/>
          <p:cNvSpPr/>
          <p:nvPr/>
        </p:nvSpPr>
        <p:spPr>
          <a:xfrm>
            <a:off x="6108192" y="2505456"/>
            <a:ext cx="530352" cy="228600"/>
          </a:xfrm>
          <a:prstGeom prst="rect">
            <a:avLst/>
          </a:prstGeom>
          <a:noFill/>
          <a:ln/>
        </p:spPr>
        <p:txBody>
          <a:bodyPr wrap="square" rtlCol="0" anchor="ctr"/>
          <a:lstStyle/>
          <a:p>
            <a:pPr marL="0" indent="0" algn="ctr">
              <a:buNone/>
            </a:pPr>
            <a:r>
              <a:rPr lang="en-US" sz="750" b="1" dirty="0">
                <a:solidFill>
                  <a:srgbClr val="FFFFFF"/>
                </a:solidFill>
              </a:rPr>
              <a:t>GET</a:t>
            </a:r>
            <a:endParaRPr lang="en-US" sz="750" dirty="0"/>
          </a:p>
        </p:txBody>
      </p:sp>
      <p:sp>
        <p:nvSpPr>
          <p:cNvPr id="47" name="Text 45"/>
          <p:cNvSpPr/>
          <p:nvPr/>
        </p:nvSpPr>
        <p:spPr>
          <a:xfrm>
            <a:off x="6693408" y="2505456"/>
            <a:ext cx="2103120" cy="228600"/>
          </a:xfrm>
          <a:prstGeom prst="rect">
            <a:avLst/>
          </a:prstGeom>
          <a:noFill/>
          <a:ln/>
        </p:spPr>
        <p:txBody>
          <a:bodyPr wrap="square" rtlCol="0" anchor="ctr"/>
          <a:lstStyle/>
          <a:p>
            <a:pPr marL="0" indent="0">
              <a:buNone/>
            </a:pPr>
            <a:r>
              <a:rPr lang="en-US" sz="900" dirty="0">
                <a:solidFill>
                  <a:srgbClr val="1B2A4A"/>
                </a:solidFill>
              </a:rPr>
              <a:t>Fetch all services</a:t>
            </a:r>
            <a:endParaRPr lang="en-US" sz="900" dirty="0"/>
          </a:p>
        </p:txBody>
      </p:sp>
      <p:sp>
        <p:nvSpPr>
          <p:cNvPr id="48" name="Text 46"/>
          <p:cNvSpPr/>
          <p:nvPr/>
        </p:nvSpPr>
        <p:spPr>
          <a:xfrm>
            <a:off x="6108192" y="27432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/api/services</a:t>
            </a:r>
            <a:endParaRPr lang="en-US" sz="750" dirty="0"/>
          </a:p>
        </p:txBody>
      </p:sp>
      <p:sp>
        <p:nvSpPr>
          <p:cNvPr id="49" name="Shape 47"/>
          <p:cNvSpPr/>
          <p:nvPr/>
        </p:nvSpPr>
        <p:spPr>
          <a:xfrm>
            <a:off x="6108192" y="2962656"/>
            <a:ext cx="530352" cy="228600"/>
          </a:xfrm>
          <a:prstGeom prst="rect">
            <a:avLst/>
          </a:prstGeom>
          <a:solidFill>
            <a:srgbClr val="38B2AC"/>
          </a:solidFill>
          <a:ln w="12700">
            <a:solidFill>
              <a:srgbClr val="38B2AC"/>
            </a:solidFill>
            <a:prstDash val="solid"/>
          </a:ln>
        </p:spPr>
      </p:sp>
      <p:sp>
        <p:nvSpPr>
          <p:cNvPr id="50" name="Text 48"/>
          <p:cNvSpPr/>
          <p:nvPr/>
        </p:nvSpPr>
        <p:spPr>
          <a:xfrm>
            <a:off x="6108192" y="2962656"/>
            <a:ext cx="530352" cy="228600"/>
          </a:xfrm>
          <a:prstGeom prst="rect">
            <a:avLst/>
          </a:prstGeom>
          <a:noFill/>
          <a:ln/>
        </p:spPr>
        <p:txBody>
          <a:bodyPr wrap="square" rtlCol="0" anchor="ctr"/>
          <a:lstStyle/>
          <a:p>
            <a:pPr marL="0" indent="0" algn="ctr">
              <a:buNone/>
            </a:pPr>
            <a:r>
              <a:rPr lang="en-US" sz="750" b="1" dirty="0">
                <a:solidFill>
                  <a:srgbClr val="FFFFFF"/>
                </a:solidFill>
              </a:rPr>
              <a:t>POST</a:t>
            </a:r>
            <a:endParaRPr lang="en-US" sz="750" dirty="0"/>
          </a:p>
        </p:txBody>
      </p:sp>
      <p:sp>
        <p:nvSpPr>
          <p:cNvPr id="51" name="Text 49"/>
          <p:cNvSpPr/>
          <p:nvPr/>
        </p:nvSpPr>
        <p:spPr>
          <a:xfrm>
            <a:off x="6693408" y="2962656"/>
            <a:ext cx="2103120" cy="228600"/>
          </a:xfrm>
          <a:prstGeom prst="rect">
            <a:avLst/>
          </a:prstGeom>
          <a:noFill/>
          <a:ln/>
        </p:spPr>
        <p:txBody>
          <a:bodyPr wrap="square" rtlCol="0" anchor="ctr"/>
          <a:lstStyle/>
          <a:p>
            <a:pPr marL="0" indent="0">
              <a:buNone/>
            </a:pPr>
            <a:r>
              <a:rPr lang="en-US" sz="900" dirty="0">
                <a:solidFill>
                  <a:srgbClr val="1B2A4A"/>
                </a:solidFill>
              </a:rPr>
              <a:t>Create a new service</a:t>
            </a:r>
            <a:endParaRPr lang="en-US" sz="900" dirty="0"/>
          </a:p>
        </p:txBody>
      </p:sp>
      <p:sp>
        <p:nvSpPr>
          <p:cNvPr id="52" name="Text 50"/>
          <p:cNvSpPr/>
          <p:nvPr/>
        </p:nvSpPr>
        <p:spPr>
          <a:xfrm>
            <a:off x="6108192" y="32004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/api/services</a:t>
            </a:r>
            <a:endParaRPr lang="en-US" sz="750" dirty="0"/>
          </a:p>
        </p:txBody>
      </p:sp>
      <p:sp>
        <p:nvSpPr>
          <p:cNvPr id="53" name="Shape 51"/>
          <p:cNvSpPr/>
          <p:nvPr/>
        </p:nvSpPr>
        <p:spPr>
          <a:xfrm>
            <a:off x="6108192" y="3419856"/>
            <a:ext cx="530352" cy="228600"/>
          </a:xfrm>
          <a:prstGeom prst="rect">
            <a:avLst/>
          </a:prstGeom>
          <a:solidFill>
            <a:srgbClr val="38B2AC"/>
          </a:solidFill>
          <a:ln w="12700">
            <a:solidFill>
              <a:srgbClr val="38B2AC"/>
            </a:solidFill>
            <a:prstDash val="solid"/>
          </a:ln>
        </p:spPr>
      </p:sp>
      <p:sp>
        <p:nvSpPr>
          <p:cNvPr id="54" name="Text 52"/>
          <p:cNvSpPr/>
          <p:nvPr/>
        </p:nvSpPr>
        <p:spPr>
          <a:xfrm>
            <a:off x="6108192" y="3419856"/>
            <a:ext cx="530352" cy="228600"/>
          </a:xfrm>
          <a:prstGeom prst="rect">
            <a:avLst/>
          </a:prstGeom>
          <a:noFill/>
          <a:ln/>
        </p:spPr>
        <p:txBody>
          <a:bodyPr wrap="square" rtlCol="0" anchor="ctr"/>
          <a:lstStyle/>
          <a:p>
            <a:pPr marL="0" indent="0" algn="ctr">
              <a:buNone/>
            </a:pPr>
            <a:r>
              <a:rPr lang="en-US" sz="750" b="1" dirty="0">
                <a:solidFill>
                  <a:srgbClr val="FFFFFF"/>
                </a:solidFill>
              </a:rPr>
              <a:t>POST</a:t>
            </a:r>
            <a:endParaRPr lang="en-US" sz="750" dirty="0"/>
          </a:p>
        </p:txBody>
      </p:sp>
      <p:sp>
        <p:nvSpPr>
          <p:cNvPr id="55" name="Text 53"/>
          <p:cNvSpPr/>
          <p:nvPr/>
        </p:nvSpPr>
        <p:spPr>
          <a:xfrm>
            <a:off x="6693408" y="3419856"/>
            <a:ext cx="2103120" cy="228600"/>
          </a:xfrm>
          <a:prstGeom prst="rect">
            <a:avLst/>
          </a:prstGeom>
          <a:noFill/>
          <a:ln/>
        </p:spPr>
        <p:txBody>
          <a:bodyPr wrap="square" rtlCol="0" anchor="ctr"/>
          <a:lstStyle/>
          <a:p>
            <a:pPr marL="0" indent="0">
              <a:buNone/>
            </a:pPr>
            <a:r>
              <a:rPr lang="en-US" sz="900" dirty="0">
                <a:solidFill>
                  <a:srgbClr val="1B2A4A"/>
                </a:solidFill>
              </a:rPr>
              <a:t>Book a service</a:t>
            </a:r>
            <a:endParaRPr lang="en-US" sz="900" dirty="0"/>
          </a:p>
        </p:txBody>
      </p:sp>
      <p:sp>
        <p:nvSpPr>
          <p:cNvPr id="56" name="Text 54"/>
          <p:cNvSpPr/>
          <p:nvPr/>
        </p:nvSpPr>
        <p:spPr>
          <a:xfrm>
            <a:off x="6108192" y="36576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/api/bookings</a:t>
            </a:r>
            <a:endParaRPr lang="en-US" sz="750" dirty="0"/>
          </a:p>
        </p:txBody>
      </p:sp>
      <p:sp>
        <p:nvSpPr>
          <p:cNvPr id="57" name="Shape 55"/>
          <p:cNvSpPr/>
          <p:nvPr/>
        </p:nvSpPr>
        <p:spPr>
          <a:xfrm>
            <a:off x="6108192" y="3877056"/>
            <a:ext cx="530352" cy="228600"/>
          </a:xfrm>
          <a:prstGeom prst="rect">
            <a:avLst/>
          </a:prstGeom>
          <a:solidFill>
            <a:srgbClr val="F4A261"/>
          </a:solidFill>
          <a:ln w="12700">
            <a:solidFill>
              <a:srgbClr val="F4A261"/>
            </a:solidFill>
            <a:prstDash val="solid"/>
          </a:ln>
        </p:spPr>
      </p:sp>
      <p:sp>
        <p:nvSpPr>
          <p:cNvPr id="58" name="Text 56"/>
          <p:cNvSpPr/>
          <p:nvPr/>
        </p:nvSpPr>
        <p:spPr>
          <a:xfrm>
            <a:off x="6108192" y="3877056"/>
            <a:ext cx="530352" cy="228600"/>
          </a:xfrm>
          <a:prstGeom prst="rect">
            <a:avLst/>
          </a:prstGeom>
          <a:noFill/>
          <a:ln/>
        </p:spPr>
        <p:txBody>
          <a:bodyPr wrap="square" rtlCol="0" anchor="ctr"/>
          <a:lstStyle/>
          <a:p>
            <a:pPr marL="0" indent="0" algn="ctr">
              <a:buNone/>
            </a:pPr>
            <a:r>
              <a:rPr lang="en-US" sz="750" b="1" dirty="0">
                <a:solidFill>
                  <a:srgbClr val="FFFFFF"/>
                </a:solidFill>
              </a:rPr>
              <a:t>PUT</a:t>
            </a:r>
            <a:endParaRPr lang="en-US" sz="750" dirty="0"/>
          </a:p>
        </p:txBody>
      </p:sp>
      <p:sp>
        <p:nvSpPr>
          <p:cNvPr id="59" name="Text 57"/>
          <p:cNvSpPr/>
          <p:nvPr/>
        </p:nvSpPr>
        <p:spPr>
          <a:xfrm>
            <a:off x="6693408" y="3877056"/>
            <a:ext cx="2103120" cy="228600"/>
          </a:xfrm>
          <a:prstGeom prst="rect">
            <a:avLst/>
          </a:prstGeom>
          <a:noFill/>
          <a:ln/>
        </p:spPr>
        <p:txBody>
          <a:bodyPr wrap="square" rtlCol="0" anchor="ctr"/>
          <a:lstStyle/>
          <a:p>
            <a:pPr marL="0" indent="0">
              <a:buNone/>
            </a:pPr>
            <a:r>
              <a:rPr lang="en-US" sz="900" dirty="0">
                <a:solidFill>
                  <a:srgbClr val="1B2A4A"/>
                </a:solidFill>
              </a:rPr>
              <a:t>Update booking status</a:t>
            </a:r>
            <a:endParaRPr lang="en-US" sz="900" dirty="0"/>
          </a:p>
        </p:txBody>
      </p:sp>
      <p:sp>
        <p:nvSpPr>
          <p:cNvPr id="60" name="Text 58"/>
          <p:cNvSpPr/>
          <p:nvPr/>
        </p:nvSpPr>
        <p:spPr>
          <a:xfrm>
            <a:off x="6108192" y="41148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/api/bookings/:id/status</a:t>
            </a:r>
            <a:endParaRPr lang="en-US" sz="750" dirty="0"/>
          </a:p>
        </p:txBody>
      </p:sp>
      <p:sp>
        <p:nvSpPr>
          <p:cNvPr id="61" name="Shape 59"/>
          <p:cNvSpPr/>
          <p:nvPr/>
        </p:nvSpPr>
        <p:spPr>
          <a:xfrm>
            <a:off x="6108192" y="4334256"/>
            <a:ext cx="530352" cy="228600"/>
          </a:xfrm>
          <a:prstGeom prst="rect">
            <a:avLst/>
          </a:prstGeom>
          <a:solidFill>
            <a:srgbClr val="000000"/>
          </a:solidFill>
          <a:ln w="12700">
            <a:solidFill>
              <a:srgbClr val="333333"/>
            </a:solidFill>
            <a:prstDash val="solid"/>
          </a:ln>
        </p:spPr>
      </p:sp>
      <p:sp>
        <p:nvSpPr>
          <p:cNvPr id="62" name="Text 60"/>
          <p:cNvSpPr/>
          <p:nvPr/>
        </p:nvSpPr>
        <p:spPr>
          <a:xfrm>
            <a:off x="6108192" y="4334256"/>
            <a:ext cx="530352" cy="228600"/>
          </a:xfrm>
          <a:prstGeom prst="rect">
            <a:avLst/>
          </a:prstGeom>
          <a:noFill/>
          <a:ln/>
        </p:spPr>
        <p:txBody>
          <a:bodyPr wrap="square" rtlCol="0" anchor="ctr"/>
          <a:lstStyle/>
          <a:p>
            <a:pPr marL="0" indent="0" algn="ctr">
              <a:buNone/>
            </a:pPr>
            <a:r>
              <a:rPr lang="en-US" sz="750" b="1" dirty="0">
                <a:solidFill>
                  <a:srgbClr val="FFFFFF"/>
                </a:solidFill>
              </a:rPr>
              <a:t>GET</a:t>
            </a:r>
            <a:endParaRPr lang="en-US" sz="750" dirty="0"/>
          </a:p>
        </p:txBody>
      </p:sp>
      <p:sp>
        <p:nvSpPr>
          <p:cNvPr id="63" name="Text 61"/>
          <p:cNvSpPr/>
          <p:nvPr/>
        </p:nvSpPr>
        <p:spPr>
          <a:xfrm>
            <a:off x="6693408" y="4334256"/>
            <a:ext cx="2103120" cy="228600"/>
          </a:xfrm>
          <a:prstGeom prst="rect">
            <a:avLst/>
          </a:prstGeom>
          <a:noFill/>
          <a:ln/>
        </p:spPr>
        <p:txBody>
          <a:bodyPr wrap="square" rtlCol="0" anchor="ctr"/>
          <a:lstStyle/>
          <a:p>
            <a:pPr marL="0" indent="0">
              <a:buNone/>
            </a:pPr>
            <a:r>
              <a:rPr lang="en-US" sz="900" dirty="0">
                <a:solidFill>
                  <a:srgbClr val="1B2A4A"/>
                </a:solidFill>
              </a:rPr>
              <a:t>Get logged-in user info</a:t>
            </a:r>
            <a:endParaRPr lang="en-US" sz="900" dirty="0"/>
          </a:p>
        </p:txBody>
      </p:sp>
      <p:sp>
        <p:nvSpPr>
          <p:cNvPr id="64" name="Text 62"/>
          <p:cNvSpPr/>
          <p:nvPr/>
        </p:nvSpPr>
        <p:spPr>
          <a:xfrm>
            <a:off x="6108192" y="4572000"/>
            <a:ext cx="2688336" cy="182880"/>
          </a:xfrm>
          <a:prstGeom prst="rect">
            <a:avLst/>
          </a:prstGeom>
          <a:noFill/>
          <a:ln/>
        </p:spPr>
        <p:txBody>
          <a:bodyPr wrap="square" rtlCol="0" anchor="ctr"/>
          <a:lstStyle/>
          <a:p>
            <a:pPr marL="0" indent="0">
              <a:buNone/>
            </a:pPr>
            <a:r>
              <a:rPr lang="en-US" sz="750" dirty="0">
                <a:solidFill>
                  <a:srgbClr val="718096"/>
                </a:solidFill>
                <a:latin typeface="Consolas" pitchFamily="34" charset="0"/>
                <a:ea typeface="Consolas" pitchFamily="34" charset="-122"/>
                <a:cs typeface="Consolas" pitchFamily="34" charset="-120"/>
              </a:rPr>
              <a:t>/api/auth/me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Text 1"/>
          <p:cNvSpPr/>
          <p:nvPr/>
        </p:nvSpPr>
        <p:spPr>
          <a:xfrm>
            <a:off x="457200" y="73152"/>
            <a:ext cx="5486400" cy="347472"/>
          </a:xfrm>
          <a:prstGeom prst="rect">
            <a:avLst/>
          </a:prstGeom>
          <a:noFill/>
          <a:ln/>
        </p:spPr>
        <p:txBody>
          <a:bodyPr wrap="square" rtlCol="0" anchor="ctr"/>
          <a:lstStyle/>
          <a:p>
            <a:pPr marL="0" indent="0">
              <a:buNone/>
            </a:pPr>
            <a:r>
              <a:rPr lang="en-US" sz="900" b="1" kern="0" spc="200" dirty="0">
                <a:solidFill>
                  <a:srgbClr val="F4A261"/>
                </a:solidFill>
              </a:rPr>
              <a:t>08  /  Database Design</a:t>
            </a:r>
            <a:endParaRPr lang="en-US" sz="900" dirty="0"/>
          </a:p>
        </p:txBody>
      </p:sp>
      <p:sp>
        <p:nvSpPr>
          <p:cNvPr id="4" name="Text 2"/>
          <p:cNvSpPr/>
          <p:nvPr/>
        </p:nvSpPr>
        <p:spPr>
          <a:xfrm>
            <a:off x="457200" y="438912"/>
            <a:ext cx="8229600" cy="438912"/>
          </a:xfrm>
          <a:prstGeom prst="rect">
            <a:avLst/>
          </a:prstGeom>
          <a:noFill/>
          <a:ln/>
        </p:spPr>
        <p:txBody>
          <a:bodyPr wrap="square" rtlCol="0" anchor="ctr"/>
          <a:lstStyle/>
          <a:p>
            <a:pPr marL="0" indent="0">
              <a:buNone/>
            </a:pPr>
            <a:r>
              <a:rPr lang="en-US" sz="2100" b="1" dirty="0">
                <a:solidFill>
                  <a:srgbClr val="FFFFFF"/>
                </a:solidFill>
              </a:rPr>
              <a:t>How Data is Stored &amp; Connected in the Application</a:t>
            </a:r>
            <a:endParaRPr lang="en-US" sz="2100" dirty="0"/>
          </a:p>
        </p:txBody>
      </p:sp>
      <p:sp>
        <p:nvSpPr>
          <p:cNvPr id="5" name="Shape 3"/>
          <p:cNvSpPr/>
          <p:nvPr/>
        </p:nvSpPr>
        <p:spPr>
          <a:xfrm>
            <a:off x="274320" y="1051560"/>
            <a:ext cx="8595360" cy="438912"/>
          </a:xfrm>
          <a:prstGeom prst="rect">
            <a:avLst/>
          </a:prstGeom>
          <a:solidFill>
            <a:srgbClr val="F4A261"/>
          </a:solidFill>
          <a:ln w="12700">
            <a:solidFill>
              <a:srgbClr val="F4A261"/>
            </a:solidFill>
            <a:prstDash val="solid"/>
          </a:ln>
        </p:spPr>
      </p:sp>
      <p:sp>
        <p:nvSpPr>
          <p:cNvPr id="6" name="Text 4"/>
          <p:cNvSpPr/>
          <p:nvPr/>
        </p:nvSpPr>
        <p:spPr>
          <a:xfrm>
            <a:off x="274320" y="1051560"/>
            <a:ext cx="8595360" cy="438912"/>
          </a:xfrm>
          <a:prstGeom prst="rect">
            <a:avLst/>
          </a:prstGeom>
          <a:noFill/>
          <a:ln/>
        </p:spPr>
        <p:txBody>
          <a:bodyPr wrap="square" rtlCol="0" anchor="ctr"/>
          <a:lstStyle/>
          <a:p>
            <a:pPr marL="0" indent="0" algn="ctr">
              <a:buNone/>
            </a:pPr>
            <a:r>
              <a:rPr lang="en-US" sz="1000" b="1" dirty="0">
                <a:solidFill>
                  <a:srgbClr val="1B2A4A"/>
                </a:solidFill>
              </a:rPr>
              <a:t>Database Used: MongoDB (stores data as flexible documents, not fixed tables)   |   Tool: Mongoose   |   Hosted on: MongoDB Atlas</a:t>
            </a:r>
            <a:endParaRPr lang="en-US" sz="1000" dirty="0"/>
          </a:p>
        </p:txBody>
      </p:sp>
      <p:sp>
        <p:nvSpPr>
          <p:cNvPr id="7" name="Shape 5"/>
          <p:cNvSpPr/>
          <p:nvPr/>
        </p:nvSpPr>
        <p:spPr>
          <a:xfrm>
            <a:off x="274320" y="1600200"/>
            <a:ext cx="2743200" cy="333756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8" name="Shape 6"/>
          <p:cNvSpPr/>
          <p:nvPr/>
        </p:nvSpPr>
        <p:spPr>
          <a:xfrm>
            <a:off x="274320" y="1600200"/>
            <a:ext cx="2743200" cy="457200"/>
          </a:xfrm>
          <a:prstGeom prst="rect">
            <a:avLst/>
          </a:prstGeom>
          <a:solidFill>
            <a:srgbClr val="E05C41"/>
          </a:solidFill>
          <a:ln w="12700">
            <a:solidFill>
              <a:srgbClr val="E05C41"/>
            </a:solidFill>
            <a:prstDash val="solid"/>
          </a:ln>
        </p:spPr>
      </p:sp>
      <p:sp>
        <p:nvSpPr>
          <p:cNvPr id="9" name="Text 7"/>
          <p:cNvSpPr/>
          <p:nvPr/>
        </p:nvSpPr>
        <p:spPr>
          <a:xfrm>
            <a:off x="274320" y="1600200"/>
            <a:ext cx="2743200" cy="457200"/>
          </a:xfrm>
          <a:prstGeom prst="rect">
            <a:avLst/>
          </a:prstGeom>
          <a:noFill/>
          <a:ln/>
        </p:spPr>
        <p:txBody>
          <a:bodyPr wrap="square" rtlCol="0" anchor="ctr"/>
          <a:lstStyle/>
          <a:p>
            <a:pPr marL="0" indent="0" algn="ctr">
              <a:buNone/>
            </a:pPr>
            <a:r>
              <a:rPr lang="en-US" sz="1200" b="1" dirty="0">
                <a:solidFill>
                  <a:srgbClr val="FFFFFF"/>
                </a:solidFill>
              </a:rPr>
              <a:t>User Collection</a:t>
            </a:r>
            <a:endParaRPr lang="en-US" sz="1200" dirty="0"/>
          </a:p>
        </p:txBody>
      </p:sp>
      <p:sp>
        <p:nvSpPr>
          <p:cNvPr id="10" name="Text 8"/>
          <p:cNvSpPr/>
          <p:nvPr/>
        </p:nvSpPr>
        <p:spPr>
          <a:xfrm>
            <a:off x="384048" y="2103120"/>
            <a:ext cx="2523744" cy="320040"/>
          </a:xfrm>
          <a:prstGeom prst="rect">
            <a:avLst/>
          </a:prstGeom>
          <a:noFill/>
          <a:ln/>
        </p:spPr>
        <p:txBody>
          <a:bodyPr wrap="square" rtlCol="0" anchor="ctr"/>
          <a:lstStyle/>
          <a:p>
            <a:pPr marL="0" indent="0">
              <a:buNone/>
            </a:pPr>
            <a:r>
              <a:rPr lang="en-US" sz="950" b="1" i="1" dirty="0">
                <a:solidFill>
                  <a:srgbClr val="4A5568"/>
                </a:solidFill>
              </a:rPr>
              <a:t>Stores all registered users — both clients and providers.</a:t>
            </a:r>
            <a:endParaRPr lang="en-US" sz="950" dirty="0"/>
          </a:p>
        </p:txBody>
      </p:sp>
      <p:sp>
        <p:nvSpPr>
          <p:cNvPr id="11" name="Text 9"/>
          <p:cNvSpPr/>
          <p:nvPr/>
        </p:nvSpPr>
        <p:spPr>
          <a:xfrm>
            <a:off x="384048" y="2450592"/>
            <a:ext cx="2523744" cy="2377440"/>
          </a:xfrm>
          <a:prstGeom prst="rect">
            <a:avLst/>
          </a:prstGeom>
          <a:noFill/>
          <a:ln/>
        </p:spPr>
        <p:txBody>
          <a:bodyPr wrap="square" rtlCol="0" anchor="t"/>
          <a:lstStyle/>
          <a:p>
            <a:pPr marL="0" indent="0">
              <a:spcAft>
                <a:spcPts val="400"/>
              </a:spcAft>
              <a:buNone/>
            </a:pPr>
            <a:r>
              <a:rPr lang="en-US" sz="950" dirty="0">
                <a:solidFill>
                  <a:srgbClr val="1B2A4A"/>
                </a:solidFill>
              </a:rPr>
              <a:t>Name — Full name of the user</a:t>
            </a:r>
            <a:endParaRPr lang="en-US" sz="950" dirty="0"/>
          </a:p>
          <a:p>
            <a:pPr marL="0" indent="0">
              <a:spcAft>
                <a:spcPts val="400"/>
              </a:spcAft>
              <a:buNone/>
            </a:pPr>
            <a:r>
              <a:rPr lang="en-US" sz="950" dirty="0">
                <a:solidFill>
                  <a:srgbClr val="1B2A4A"/>
                </a:solidFill>
              </a:rPr>
              <a:t>Email — Unique email used to log in</a:t>
            </a:r>
            <a:endParaRPr lang="en-US" sz="950" dirty="0"/>
          </a:p>
          <a:p>
            <a:pPr marL="0" indent="0">
              <a:spcAft>
                <a:spcPts val="400"/>
              </a:spcAft>
              <a:buNone/>
            </a:pPr>
            <a:r>
              <a:rPr lang="en-US" sz="950" dirty="0">
                <a:solidFill>
                  <a:srgbClr val="1B2A4A"/>
                </a:solidFill>
              </a:rPr>
              <a:t>Password — Stored in encrypted form</a:t>
            </a:r>
            <a:endParaRPr lang="en-US" sz="950" dirty="0"/>
          </a:p>
          <a:p>
            <a:pPr marL="0" indent="0">
              <a:spcAft>
                <a:spcPts val="400"/>
              </a:spcAft>
              <a:buNone/>
            </a:pPr>
            <a:r>
              <a:rPr lang="en-US" sz="950" dirty="0">
                <a:solidFill>
                  <a:srgbClr val="1B2A4A"/>
                </a:solidFill>
              </a:rPr>
              <a:t>Role — Either 'client' or 'provider'</a:t>
            </a:r>
            <a:endParaRPr lang="en-US" sz="950" dirty="0"/>
          </a:p>
          <a:p>
            <a:pPr marL="0" indent="0">
              <a:spcAft>
                <a:spcPts val="400"/>
              </a:spcAft>
              <a:buNone/>
            </a:pPr>
            <a:r>
              <a:rPr lang="en-US" sz="950" dirty="0">
                <a:solidFill>
                  <a:srgbClr val="1B2A4A"/>
                </a:solidFill>
              </a:rPr>
              <a:t>Phone, Location, Profile Photo, Bio</a:t>
            </a:r>
            <a:endParaRPr lang="en-US" sz="950" dirty="0"/>
          </a:p>
          <a:p>
            <a:pPr marL="0" indent="0">
              <a:spcAft>
                <a:spcPts val="400"/>
              </a:spcAft>
              <a:buNone/>
            </a:pPr>
            <a:r>
              <a:rPr lang="en-US" sz="950" dirty="0">
                <a:solidFill>
                  <a:srgbClr val="1B2A4A"/>
                </a:solidFill>
              </a:rPr>
              <a:t>Date created and last updated</a:t>
            </a:r>
            <a:endParaRPr lang="en-US" sz="950" dirty="0"/>
          </a:p>
        </p:txBody>
      </p:sp>
      <p:sp>
        <p:nvSpPr>
          <p:cNvPr id="12" name="Shape 10"/>
          <p:cNvSpPr/>
          <p:nvPr/>
        </p:nvSpPr>
        <p:spPr>
          <a:xfrm>
            <a:off x="3182112" y="1600200"/>
            <a:ext cx="2743200" cy="333756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13" name="Shape 11"/>
          <p:cNvSpPr/>
          <p:nvPr/>
        </p:nvSpPr>
        <p:spPr>
          <a:xfrm>
            <a:off x="3182112" y="1600200"/>
            <a:ext cx="2743200" cy="457200"/>
          </a:xfrm>
          <a:prstGeom prst="rect">
            <a:avLst/>
          </a:prstGeom>
          <a:solidFill>
            <a:srgbClr val="38B2AC"/>
          </a:solidFill>
          <a:ln w="12700">
            <a:solidFill>
              <a:srgbClr val="38B2AC"/>
            </a:solidFill>
            <a:prstDash val="solid"/>
          </a:ln>
        </p:spPr>
      </p:sp>
      <p:sp>
        <p:nvSpPr>
          <p:cNvPr id="14" name="Text 12"/>
          <p:cNvSpPr/>
          <p:nvPr/>
        </p:nvSpPr>
        <p:spPr>
          <a:xfrm>
            <a:off x="3182112" y="1600200"/>
            <a:ext cx="2743200" cy="457200"/>
          </a:xfrm>
          <a:prstGeom prst="rect">
            <a:avLst/>
          </a:prstGeom>
          <a:noFill/>
          <a:ln/>
        </p:spPr>
        <p:txBody>
          <a:bodyPr wrap="square" rtlCol="0" anchor="ctr"/>
          <a:lstStyle/>
          <a:p>
            <a:pPr marL="0" indent="0" algn="ctr">
              <a:buNone/>
            </a:pPr>
            <a:r>
              <a:rPr lang="en-US" sz="1200" b="1" dirty="0">
                <a:solidFill>
                  <a:srgbClr val="FFFFFF"/>
                </a:solidFill>
              </a:rPr>
              <a:t>Service Collection</a:t>
            </a:r>
            <a:endParaRPr lang="en-US" sz="1200" dirty="0"/>
          </a:p>
        </p:txBody>
      </p:sp>
      <p:sp>
        <p:nvSpPr>
          <p:cNvPr id="15" name="Text 13"/>
          <p:cNvSpPr/>
          <p:nvPr/>
        </p:nvSpPr>
        <p:spPr>
          <a:xfrm>
            <a:off x="3291840" y="2103120"/>
            <a:ext cx="2523744" cy="320040"/>
          </a:xfrm>
          <a:prstGeom prst="rect">
            <a:avLst/>
          </a:prstGeom>
          <a:noFill/>
          <a:ln/>
        </p:spPr>
        <p:txBody>
          <a:bodyPr wrap="square" rtlCol="0" anchor="ctr"/>
          <a:lstStyle/>
          <a:p>
            <a:pPr marL="0" indent="0">
              <a:buNone/>
            </a:pPr>
            <a:r>
              <a:rPr lang="en-US" sz="950" b="1" i="1" dirty="0">
                <a:solidFill>
                  <a:srgbClr val="4A5568"/>
                </a:solidFill>
              </a:rPr>
              <a:t>Stores every service listing created by providers.</a:t>
            </a:r>
            <a:endParaRPr lang="en-US" sz="950" dirty="0"/>
          </a:p>
        </p:txBody>
      </p:sp>
      <p:sp>
        <p:nvSpPr>
          <p:cNvPr id="16" name="Text 14"/>
          <p:cNvSpPr/>
          <p:nvPr/>
        </p:nvSpPr>
        <p:spPr>
          <a:xfrm>
            <a:off x="3291840" y="2450592"/>
            <a:ext cx="2523744" cy="2377440"/>
          </a:xfrm>
          <a:prstGeom prst="rect">
            <a:avLst/>
          </a:prstGeom>
          <a:noFill/>
          <a:ln/>
        </p:spPr>
        <p:txBody>
          <a:bodyPr wrap="square" rtlCol="0" anchor="t"/>
          <a:lstStyle/>
          <a:p>
            <a:pPr marL="0" indent="0">
              <a:spcAft>
                <a:spcPts val="400"/>
              </a:spcAft>
              <a:buNone/>
            </a:pPr>
            <a:r>
              <a:rPr lang="en-US" sz="950" dirty="0">
                <a:solidFill>
                  <a:srgbClr val="1B2A4A"/>
                </a:solidFill>
              </a:rPr>
              <a:t>Title — Name of the service</a:t>
            </a:r>
            <a:endParaRPr lang="en-US" sz="950" dirty="0"/>
          </a:p>
          <a:p>
            <a:pPr marL="0" indent="0">
              <a:spcAft>
                <a:spcPts val="400"/>
              </a:spcAft>
              <a:buNone/>
            </a:pPr>
            <a:r>
              <a:rPr lang="en-US" sz="950" dirty="0">
                <a:solidFill>
                  <a:srgbClr val="1B2A4A"/>
                </a:solidFill>
              </a:rPr>
              <a:t>Description — What the service includes</a:t>
            </a:r>
            <a:endParaRPr lang="en-US" sz="950" dirty="0"/>
          </a:p>
          <a:p>
            <a:pPr marL="0" indent="0">
              <a:spcAft>
                <a:spcPts val="400"/>
              </a:spcAft>
              <a:buNone/>
            </a:pPr>
            <a:r>
              <a:rPr lang="en-US" sz="950" dirty="0">
                <a:solidFill>
                  <a:srgbClr val="1B2A4A"/>
                </a:solidFill>
              </a:rPr>
              <a:t>Category — Type (Electrical, Plumbing etc.)</a:t>
            </a:r>
            <a:endParaRPr lang="en-US" sz="950" dirty="0"/>
          </a:p>
          <a:p>
            <a:pPr marL="0" indent="0">
              <a:spcAft>
                <a:spcPts val="400"/>
              </a:spcAft>
              <a:buNone/>
            </a:pPr>
            <a:r>
              <a:rPr lang="en-US" sz="950" dirty="0">
                <a:solidFill>
                  <a:srgbClr val="1B2A4A"/>
                </a:solidFill>
              </a:rPr>
              <a:t>Price &amp; Pricing Type — Fixed or hourly rate</a:t>
            </a:r>
            <a:endParaRPr lang="en-US" sz="950" dirty="0"/>
          </a:p>
          <a:p>
            <a:pPr marL="0" indent="0">
              <a:spcAft>
                <a:spcPts val="400"/>
              </a:spcAft>
              <a:buNone/>
            </a:pPr>
            <a:r>
              <a:rPr lang="en-US" sz="950" dirty="0">
                <a:solidFill>
                  <a:srgbClr val="1B2A4A"/>
                </a:solidFill>
              </a:rPr>
              <a:t>Location — Where the service is offered</a:t>
            </a:r>
            <a:endParaRPr lang="en-US" sz="950" dirty="0"/>
          </a:p>
          <a:p>
            <a:pPr marL="0" indent="0">
              <a:spcAft>
                <a:spcPts val="400"/>
              </a:spcAft>
              <a:buNone/>
            </a:pPr>
            <a:r>
              <a:rPr lang="en-US" sz="950" dirty="0">
                <a:solidFill>
                  <a:srgbClr val="1B2A4A"/>
                </a:solidFill>
              </a:rPr>
              <a:t>Service Photo, Rating, Review Count</a:t>
            </a:r>
            <a:endParaRPr lang="en-US" sz="950" dirty="0"/>
          </a:p>
          <a:p>
            <a:pPr marL="0" indent="0">
              <a:spcAft>
                <a:spcPts val="400"/>
              </a:spcAft>
              <a:buNone/>
            </a:pPr>
            <a:r>
              <a:rPr lang="en-US" sz="950" dirty="0">
                <a:solidFill>
                  <a:srgbClr val="1B2A4A"/>
                </a:solidFill>
              </a:rPr>
              <a:t>Linked to the Provider's user account</a:t>
            </a:r>
            <a:endParaRPr lang="en-US" sz="950" dirty="0"/>
          </a:p>
        </p:txBody>
      </p:sp>
      <p:sp>
        <p:nvSpPr>
          <p:cNvPr id="17" name="Shape 15"/>
          <p:cNvSpPr/>
          <p:nvPr/>
        </p:nvSpPr>
        <p:spPr>
          <a:xfrm>
            <a:off x="6089904" y="1600200"/>
            <a:ext cx="2743200" cy="3337560"/>
          </a:xfrm>
          <a:prstGeom prst="rect">
            <a:avLst/>
          </a:prstGeom>
          <a:solidFill>
            <a:srgbClr val="FFFFFF"/>
          </a:solidFill>
          <a:ln w="12700">
            <a:solidFill>
              <a:srgbClr val="E2E8F0"/>
            </a:solidFill>
            <a:prstDash val="solid"/>
          </a:ln>
          <a:effectLst>
            <a:outerShdw blurRad="177800" dist="50800" dir="8100000" algn="bl" rotWithShape="0">
              <a:srgbClr val="000000">
                <a:alpha val="7000"/>
              </a:srgbClr>
            </a:outerShdw>
          </a:effectLst>
        </p:spPr>
      </p:sp>
      <p:sp>
        <p:nvSpPr>
          <p:cNvPr id="18" name="Shape 16"/>
          <p:cNvSpPr/>
          <p:nvPr/>
        </p:nvSpPr>
        <p:spPr>
          <a:xfrm>
            <a:off x="6089904" y="1600200"/>
            <a:ext cx="2743200" cy="457200"/>
          </a:xfrm>
          <a:prstGeom prst="rect">
            <a:avLst/>
          </a:prstGeom>
          <a:solidFill>
            <a:srgbClr val="F4A261"/>
          </a:solidFill>
          <a:ln w="12700">
            <a:solidFill>
              <a:srgbClr val="F4A261"/>
            </a:solidFill>
            <a:prstDash val="solid"/>
          </a:ln>
        </p:spPr>
      </p:sp>
      <p:sp>
        <p:nvSpPr>
          <p:cNvPr id="19" name="Text 17"/>
          <p:cNvSpPr/>
          <p:nvPr/>
        </p:nvSpPr>
        <p:spPr>
          <a:xfrm>
            <a:off x="6089904" y="1600200"/>
            <a:ext cx="2743200" cy="457200"/>
          </a:xfrm>
          <a:prstGeom prst="rect">
            <a:avLst/>
          </a:prstGeom>
          <a:noFill/>
          <a:ln/>
        </p:spPr>
        <p:txBody>
          <a:bodyPr wrap="square" rtlCol="0" anchor="ctr"/>
          <a:lstStyle/>
          <a:p>
            <a:pPr marL="0" indent="0" algn="ctr">
              <a:buNone/>
            </a:pPr>
            <a:r>
              <a:rPr lang="en-US" sz="1200" b="1" dirty="0">
                <a:solidFill>
                  <a:srgbClr val="FFFFFF"/>
                </a:solidFill>
              </a:rPr>
              <a:t>Booking Collection</a:t>
            </a:r>
            <a:endParaRPr lang="en-US" sz="1200" dirty="0"/>
          </a:p>
        </p:txBody>
      </p:sp>
      <p:sp>
        <p:nvSpPr>
          <p:cNvPr id="20" name="Text 18"/>
          <p:cNvSpPr/>
          <p:nvPr/>
        </p:nvSpPr>
        <p:spPr>
          <a:xfrm>
            <a:off x="6199632" y="2103120"/>
            <a:ext cx="2523744" cy="320040"/>
          </a:xfrm>
          <a:prstGeom prst="rect">
            <a:avLst/>
          </a:prstGeom>
          <a:noFill/>
          <a:ln/>
        </p:spPr>
        <p:txBody>
          <a:bodyPr wrap="square" rtlCol="0" anchor="ctr"/>
          <a:lstStyle/>
          <a:p>
            <a:pPr marL="0" indent="0">
              <a:buNone/>
            </a:pPr>
            <a:r>
              <a:rPr lang="en-US" sz="950" b="1" i="1" dirty="0">
                <a:solidFill>
                  <a:srgbClr val="4A5568"/>
                </a:solidFill>
              </a:rPr>
              <a:t>Records every appointment made by a client.</a:t>
            </a:r>
            <a:endParaRPr lang="en-US" sz="950" dirty="0"/>
          </a:p>
        </p:txBody>
      </p:sp>
      <p:sp>
        <p:nvSpPr>
          <p:cNvPr id="21" name="Text 19"/>
          <p:cNvSpPr/>
          <p:nvPr/>
        </p:nvSpPr>
        <p:spPr>
          <a:xfrm>
            <a:off x="6199632" y="2450592"/>
            <a:ext cx="2523744" cy="2377440"/>
          </a:xfrm>
          <a:prstGeom prst="rect">
            <a:avLst/>
          </a:prstGeom>
          <a:noFill/>
          <a:ln/>
        </p:spPr>
        <p:txBody>
          <a:bodyPr wrap="square" rtlCol="0" anchor="t"/>
          <a:lstStyle/>
          <a:p>
            <a:pPr marL="0" indent="0">
              <a:spcAft>
                <a:spcPts val="400"/>
              </a:spcAft>
              <a:buNone/>
            </a:pPr>
            <a:r>
              <a:rPr lang="en-US" sz="950" dirty="0">
                <a:solidFill>
                  <a:srgbClr val="1B2A4A"/>
                </a:solidFill>
              </a:rPr>
              <a:t>Linked Service — Which service was booked</a:t>
            </a:r>
            <a:endParaRPr lang="en-US" sz="950" dirty="0"/>
          </a:p>
          <a:p>
            <a:pPr marL="0" indent="0">
              <a:spcAft>
                <a:spcPts val="400"/>
              </a:spcAft>
              <a:buNone/>
            </a:pPr>
            <a:r>
              <a:rPr lang="en-US" sz="950" dirty="0">
                <a:solidFill>
                  <a:srgbClr val="1B2A4A"/>
                </a:solidFill>
              </a:rPr>
              <a:t>Client — Who made the booking</a:t>
            </a:r>
            <a:endParaRPr lang="en-US" sz="950" dirty="0"/>
          </a:p>
          <a:p>
            <a:pPr marL="0" indent="0">
              <a:spcAft>
                <a:spcPts val="400"/>
              </a:spcAft>
              <a:buNone/>
            </a:pPr>
            <a:r>
              <a:rPr lang="en-US" sz="950" dirty="0">
                <a:solidFill>
                  <a:srgbClr val="1B2A4A"/>
                </a:solidFill>
              </a:rPr>
              <a:t>Provider — Who will provide the service</a:t>
            </a:r>
            <a:endParaRPr lang="en-US" sz="950" dirty="0"/>
          </a:p>
          <a:p>
            <a:pPr marL="0" indent="0">
              <a:spcAft>
                <a:spcPts val="400"/>
              </a:spcAft>
              <a:buNone/>
            </a:pPr>
            <a:r>
              <a:rPr lang="en-US" sz="950" dirty="0">
                <a:solidFill>
                  <a:srgbClr val="1B2A4A"/>
                </a:solidFill>
              </a:rPr>
              <a:t>Scheduled Date &amp; Time of appointment</a:t>
            </a:r>
            <a:endParaRPr lang="en-US" sz="950" dirty="0"/>
          </a:p>
          <a:p>
            <a:pPr marL="0" indent="0">
              <a:spcAft>
                <a:spcPts val="400"/>
              </a:spcAft>
              <a:buNone/>
            </a:pPr>
            <a:r>
              <a:rPr lang="en-US" sz="950" dirty="0">
                <a:solidFill>
                  <a:srgbClr val="1B2A4A"/>
                </a:solidFill>
              </a:rPr>
              <a:t>Address — Where service will be done</a:t>
            </a:r>
            <a:endParaRPr lang="en-US" sz="950" dirty="0"/>
          </a:p>
          <a:p>
            <a:pPr marL="0" indent="0">
              <a:spcAft>
                <a:spcPts val="400"/>
              </a:spcAft>
              <a:buNone/>
            </a:pPr>
            <a:r>
              <a:rPr lang="en-US" sz="950" dirty="0">
                <a:solidFill>
                  <a:srgbClr val="1B2A4A"/>
                </a:solidFill>
              </a:rPr>
              <a:t>Status — Pending / Accepted / Completed / Cancelled</a:t>
            </a:r>
            <a:endParaRPr lang="en-US" sz="950" dirty="0"/>
          </a:p>
          <a:p>
            <a:pPr marL="0" indent="0">
              <a:spcAft>
                <a:spcPts val="400"/>
              </a:spcAft>
              <a:buNone/>
            </a:pPr>
            <a:r>
              <a:rPr lang="en-US" sz="950" dirty="0">
                <a:solidFill>
                  <a:srgbClr val="1B2A4A"/>
                </a:solidFill>
              </a:rPr>
              <a:t>Total Price &amp; any notes</a:t>
            </a:r>
            <a:endParaRPr lang="en-US" sz="950" dirty="0"/>
          </a:p>
        </p:txBody>
      </p:sp>
      <p:sp>
        <p:nvSpPr>
          <p:cNvPr id="22" name="Shape 20"/>
          <p:cNvSpPr/>
          <p:nvPr/>
        </p:nvSpPr>
        <p:spPr>
          <a:xfrm>
            <a:off x="274320" y="4828032"/>
            <a:ext cx="8595360" cy="237744"/>
          </a:xfrm>
          <a:prstGeom prst="rect">
            <a:avLst/>
          </a:prstGeom>
          <a:solidFill>
            <a:srgbClr val="0D1E36"/>
          </a:solidFill>
          <a:ln w="12700">
            <a:solidFill>
              <a:srgbClr val="1B2A4A"/>
            </a:solidFill>
            <a:prstDash val="solid"/>
          </a:ln>
        </p:spPr>
      </p:sp>
      <p:sp>
        <p:nvSpPr>
          <p:cNvPr id="23" name="Text 21"/>
          <p:cNvSpPr/>
          <p:nvPr/>
        </p:nvSpPr>
        <p:spPr>
          <a:xfrm>
            <a:off x="274320" y="4828032"/>
            <a:ext cx="8595360" cy="237744"/>
          </a:xfrm>
          <a:prstGeom prst="rect">
            <a:avLst/>
          </a:prstGeom>
          <a:noFill/>
          <a:ln/>
        </p:spPr>
        <p:txBody>
          <a:bodyPr wrap="square" rtlCol="0" anchor="ctr"/>
          <a:lstStyle/>
          <a:p>
            <a:pPr marL="0" indent="0" algn="ctr">
              <a:buNone/>
            </a:pPr>
            <a:r>
              <a:rPr lang="en-US" sz="850" dirty="0">
                <a:solidFill>
                  <a:srgbClr val="8FAEC5"/>
                </a:solidFill>
              </a:rPr>
              <a:t>How they connect:   A Booking record links to a User (client), a User (provider), and a Service — so all related information can be fetched together.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62035"/>
          </a:solidFill>
          <a:ln w="12700">
            <a:solidFill>
              <a:srgbClr val="162035"/>
            </a:solidFill>
            <a:prstDash val="solid"/>
          </a:ln>
        </p:spPr>
      </p:sp>
      <p:sp>
        <p:nvSpPr>
          <p:cNvPr id="3" name="Shape 1"/>
          <p:cNvSpPr/>
          <p:nvPr/>
        </p:nvSpPr>
        <p:spPr>
          <a:xfrm>
            <a:off x="6309360" y="182880"/>
            <a:ext cx="2560320" cy="2560320"/>
          </a:xfrm>
          <a:prstGeom prst="ellipse">
            <a:avLst/>
          </a:prstGeom>
          <a:solidFill>
            <a:srgbClr val="E05C41">
              <a:alpha val="28000"/>
            </a:srgbClr>
          </a:solidFill>
          <a:ln w="12700">
            <a:solidFill>
              <a:srgbClr val="E05C41">
                <a:alpha val="28000"/>
              </a:srgbClr>
            </a:solidFill>
            <a:prstDash val="solid"/>
          </a:ln>
        </p:spPr>
      </p:sp>
      <p:sp>
        <p:nvSpPr>
          <p:cNvPr id="4" name="Shape 2"/>
          <p:cNvSpPr/>
          <p:nvPr/>
        </p:nvSpPr>
        <p:spPr>
          <a:xfrm>
            <a:off x="6858000" y="3200400"/>
            <a:ext cx="1645920" cy="1645920"/>
          </a:xfrm>
          <a:prstGeom prst="ellipse">
            <a:avLst/>
          </a:prstGeom>
          <a:solidFill>
            <a:srgbClr val="F4A261">
              <a:alpha val="32000"/>
            </a:srgbClr>
          </a:solidFill>
          <a:ln w="12700">
            <a:solidFill>
              <a:srgbClr val="F4A261">
                <a:alpha val="32000"/>
              </a:srgbClr>
            </a:solidFill>
            <a:prstDash val="solid"/>
          </a:ln>
        </p:spPr>
      </p:sp>
      <p:sp>
        <p:nvSpPr>
          <p:cNvPr id="5" name="Shape 3"/>
          <p:cNvSpPr/>
          <p:nvPr/>
        </p:nvSpPr>
        <p:spPr>
          <a:xfrm>
            <a:off x="6035040" y="3474720"/>
            <a:ext cx="822960" cy="822960"/>
          </a:xfrm>
          <a:prstGeom prst="ellipse">
            <a:avLst/>
          </a:prstGeom>
          <a:solidFill>
            <a:srgbClr val="38B2AC">
              <a:alpha val="40000"/>
            </a:srgbClr>
          </a:solidFill>
          <a:ln w="12700">
            <a:solidFill>
              <a:srgbClr val="38B2AC">
                <a:alpha val="40000"/>
              </a:srgbClr>
            </a:solidFill>
            <a:prstDash val="solid"/>
          </a:ln>
        </p:spPr>
      </p:sp>
      <p:sp>
        <p:nvSpPr>
          <p:cNvPr id="6" name="Shape 4"/>
          <p:cNvSpPr/>
          <p:nvPr/>
        </p:nvSpPr>
        <p:spPr>
          <a:xfrm>
            <a:off x="457200" y="822960"/>
            <a:ext cx="73152" cy="3474720"/>
          </a:xfrm>
          <a:prstGeom prst="rect">
            <a:avLst/>
          </a:prstGeom>
          <a:solidFill>
            <a:srgbClr val="E05C41"/>
          </a:solidFill>
          <a:ln w="12700">
            <a:solidFill>
              <a:srgbClr val="E05C41"/>
            </a:solidFill>
            <a:prstDash val="solid"/>
          </a:ln>
        </p:spPr>
      </p:sp>
      <p:sp>
        <p:nvSpPr>
          <p:cNvPr id="7" name="Text 5"/>
          <p:cNvSpPr/>
          <p:nvPr/>
        </p:nvSpPr>
        <p:spPr>
          <a:xfrm>
            <a:off x="685800" y="777240"/>
            <a:ext cx="5029200" cy="137160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8" name="Text 6"/>
          <p:cNvSpPr/>
          <p:nvPr/>
        </p:nvSpPr>
        <p:spPr>
          <a:xfrm>
            <a:off x="685800" y="2148840"/>
            <a:ext cx="4937760" cy="822960"/>
          </a:xfrm>
          <a:prstGeom prst="rect">
            <a:avLst/>
          </a:prstGeom>
          <a:noFill/>
          <a:ln/>
        </p:spPr>
        <p:txBody>
          <a:bodyPr wrap="square" rtlCol="0" anchor="ctr"/>
          <a:lstStyle/>
          <a:p>
            <a:pPr marL="0" indent="0">
              <a:buNone/>
            </a:pPr>
            <a:r>
              <a:rPr lang="en-US" sz="1300" i="1" dirty="0">
                <a:solidFill>
                  <a:srgbClr val="B0C4D8"/>
                </a:solidFill>
              </a:rPr>
              <a:t>It was a great learning experience building ServiceHub</a:t>
            </a:r>
            <a:endParaRPr lang="en-US" sz="1300" dirty="0"/>
          </a:p>
          <a:p>
            <a:pPr marL="0" indent="0">
              <a:buNone/>
            </a:pPr>
            <a:r>
              <a:rPr lang="en-US" sz="1300" i="1" dirty="0">
                <a:solidFill>
                  <a:srgbClr val="B0C4D8"/>
                </a:solidFill>
              </a:rPr>
              <a:t>from scratch during this internship.</a:t>
            </a:r>
            <a:endParaRPr lang="en-US" sz="1300" dirty="0"/>
          </a:p>
        </p:txBody>
      </p:sp>
      <p:sp>
        <p:nvSpPr>
          <p:cNvPr id="9" name="Shape 7"/>
          <p:cNvSpPr/>
          <p:nvPr/>
        </p:nvSpPr>
        <p:spPr>
          <a:xfrm>
            <a:off x="685800" y="3090672"/>
            <a:ext cx="4114800" cy="0"/>
          </a:xfrm>
          <a:prstGeom prst="line">
            <a:avLst/>
          </a:prstGeom>
          <a:noFill/>
          <a:ln w="19050">
            <a:solidFill>
              <a:srgbClr val="E05C41"/>
            </a:solidFill>
            <a:prstDash val="solid"/>
          </a:ln>
        </p:spPr>
      </p:sp>
      <p:sp>
        <p:nvSpPr>
          <p:cNvPr id="10" name="Text 8"/>
          <p:cNvSpPr/>
          <p:nvPr/>
        </p:nvSpPr>
        <p:spPr>
          <a:xfrm>
            <a:off x="685800" y="3218688"/>
            <a:ext cx="4937760" cy="292608"/>
          </a:xfrm>
          <a:prstGeom prst="rect">
            <a:avLst/>
          </a:prstGeom>
          <a:noFill/>
          <a:ln/>
        </p:spPr>
        <p:txBody>
          <a:bodyPr wrap="square" rtlCol="0" anchor="ctr"/>
          <a:lstStyle/>
          <a:p>
            <a:pPr marL="0" indent="0">
              <a:buNone/>
            </a:pPr>
            <a:r>
              <a:rPr lang="en-US" sz="1050" b="1" dirty="0">
                <a:solidFill>
                  <a:srgbClr val="F4A261"/>
                </a:solidFill>
              </a:rPr>
              <a:t>Presented by:  PRAJAPATI KRIPAL  |  Roll No. 3334</a:t>
            </a:r>
            <a:endParaRPr lang="en-US" sz="1050" dirty="0"/>
          </a:p>
        </p:txBody>
      </p:sp>
      <p:sp>
        <p:nvSpPr>
          <p:cNvPr id="11" name="Text 9"/>
          <p:cNvSpPr/>
          <p:nvPr/>
        </p:nvSpPr>
        <p:spPr>
          <a:xfrm>
            <a:off x="685800" y="3511296"/>
            <a:ext cx="4937760" cy="256032"/>
          </a:xfrm>
          <a:prstGeom prst="rect">
            <a:avLst/>
          </a:prstGeom>
          <a:noFill/>
          <a:ln/>
        </p:spPr>
        <p:txBody>
          <a:bodyPr wrap="square" rtlCol="0" anchor="ctr"/>
          <a:lstStyle/>
          <a:p>
            <a:pPr marL="0" indent="0">
              <a:buNone/>
            </a:pPr>
            <a:r>
              <a:rPr lang="en-US" sz="1000" dirty="0">
                <a:solidFill>
                  <a:srgbClr val="8FAEC5"/>
                </a:solidFill>
              </a:rPr>
              <a:t>M.SC IT — 6th Semester  |  Simploona Technosoft LLP</a:t>
            </a:r>
            <a:endParaRPr lang="en-US" sz="1000" dirty="0"/>
          </a:p>
        </p:txBody>
      </p:sp>
      <p:sp>
        <p:nvSpPr>
          <p:cNvPr id="12" name="Text 10"/>
          <p:cNvSpPr/>
          <p:nvPr/>
        </p:nvSpPr>
        <p:spPr>
          <a:xfrm>
            <a:off x="685800" y="3785616"/>
            <a:ext cx="4937760" cy="256032"/>
          </a:xfrm>
          <a:prstGeom prst="rect">
            <a:avLst/>
          </a:prstGeom>
          <a:noFill/>
          <a:ln/>
        </p:spPr>
        <p:txBody>
          <a:bodyPr wrap="square" rtlCol="0" anchor="ctr"/>
          <a:lstStyle/>
          <a:p>
            <a:pPr marL="0" indent="0">
              <a:buNone/>
            </a:pPr>
            <a:r>
              <a:rPr lang="en-US" sz="950" dirty="0">
                <a:solidFill>
                  <a:srgbClr val="8FAEC5"/>
                </a:solidFill>
              </a:rPr>
              <a:t>Guide: Yogendrabhai Panchal  |  K.S. School of Business Management &amp; IT, Gujarat University</a:t>
            </a:r>
            <a:endParaRPr lang="en-US" sz="950" dirty="0"/>
          </a:p>
        </p:txBody>
      </p:sp>
      <p:sp>
        <p:nvSpPr>
          <p:cNvPr id="13" name="Shape 11"/>
          <p:cNvSpPr/>
          <p:nvPr/>
        </p:nvSpPr>
        <p:spPr>
          <a:xfrm>
            <a:off x="685800" y="4224528"/>
            <a:ext cx="1828800" cy="384048"/>
          </a:xfrm>
          <a:prstGeom prst="rect">
            <a:avLst/>
          </a:prstGeom>
          <a:solidFill>
            <a:srgbClr val="E05C41"/>
          </a:solidFill>
          <a:ln w="12700">
            <a:solidFill>
              <a:srgbClr val="E05C41"/>
            </a:solidFill>
            <a:prstDash val="solid"/>
          </a:ln>
        </p:spPr>
      </p:sp>
      <p:sp>
        <p:nvSpPr>
          <p:cNvPr id="14" name="Text 12"/>
          <p:cNvSpPr/>
          <p:nvPr/>
        </p:nvSpPr>
        <p:spPr>
          <a:xfrm>
            <a:off x="685800" y="4224528"/>
            <a:ext cx="1828800" cy="384048"/>
          </a:xfrm>
          <a:prstGeom prst="rect">
            <a:avLst/>
          </a:prstGeom>
          <a:noFill/>
          <a:ln/>
        </p:spPr>
        <p:txBody>
          <a:bodyPr wrap="square" rtlCol="0" anchor="ctr"/>
          <a:lstStyle/>
          <a:p>
            <a:pPr marL="0" indent="0" algn="ctr">
              <a:buNone/>
            </a:pPr>
            <a:r>
              <a:rPr lang="en-US" sz="1100" b="1" dirty="0">
                <a:solidFill>
                  <a:srgbClr val="FFFFFF"/>
                </a:solidFill>
              </a:rPr>
              <a:t>ServiceHub</a:t>
            </a:r>
            <a:endParaRPr lang="en-US" sz="1100" dirty="0"/>
          </a:p>
        </p:txBody>
      </p:sp>
      <p:sp>
        <p:nvSpPr>
          <p:cNvPr id="15" name="Shape 13"/>
          <p:cNvSpPr/>
          <p:nvPr/>
        </p:nvSpPr>
        <p:spPr>
          <a:xfrm>
            <a:off x="2606040" y="4224528"/>
            <a:ext cx="2194560" cy="384048"/>
          </a:xfrm>
          <a:prstGeom prst="rect">
            <a:avLst/>
          </a:prstGeom>
          <a:solidFill>
            <a:srgbClr val="0D1E36"/>
          </a:solidFill>
          <a:ln w="12700">
            <a:solidFill>
              <a:srgbClr val="0D1E36"/>
            </a:solidFill>
            <a:prstDash val="solid"/>
          </a:ln>
        </p:spPr>
        <p:txBody>
          <a:bodyPr/>
          <a:lstStyle/>
          <a:p>
            <a:endParaRPr lang="en-IN" dirty="0"/>
          </a:p>
        </p:txBody>
      </p:sp>
      <p:sp>
        <p:nvSpPr>
          <p:cNvPr id="16" name="Text 14"/>
          <p:cNvSpPr/>
          <p:nvPr/>
        </p:nvSpPr>
        <p:spPr>
          <a:xfrm>
            <a:off x="2606040" y="4224528"/>
            <a:ext cx="2194560" cy="384048"/>
          </a:xfrm>
          <a:prstGeom prst="rect">
            <a:avLst/>
          </a:prstGeom>
          <a:noFill/>
          <a:ln/>
        </p:spPr>
        <p:txBody>
          <a:bodyPr wrap="square" rtlCol="0" anchor="ctr"/>
          <a:lstStyle/>
          <a:p>
            <a:pPr marL="0" indent="0" algn="ctr">
              <a:buNone/>
            </a:pPr>
            <a:r>
              <a:rPr lang="en-US" sz="1000" dirty="0">
                <a:solidFill>
                  <a:srgbClr val="8FAEC5"/>
                </a:solidFill>
              </a:rPr>
              <a:t>Internship Project 2025-26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1830</Words>
  <Application>Microsoft Office PowerPoint</Application>
  <PresentationFormat>On-screen Show (16:9)</PresentationFormat>
  <Paragraphs>209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ServiceHub - Connecting Clients with Local Services</dc:title>
  <dc:subject>PptxGenJS Presentation</dc:subject>
  <dc:creator>PptxGenJS</dc:creator>
  <cp:lastModifiedBy>kripal prajapti</cp:lastModifiedBy>
  <cp:revision>2</cp:revision>
  <dcterms:created xsi:type="dcterms:W3CDTF">2026-04-23T23:37:25Z</dcterms:created>
  <dcterms:modified xsi:type="dcterms:W3CDTF">2026-04-23T23:40:07Z</dcterms:modified>
</cp:coreProperties>
</file>